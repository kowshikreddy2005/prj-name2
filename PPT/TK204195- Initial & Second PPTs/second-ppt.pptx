
<file path=[Content_Types].xml><?xml version="1.0" encoding="utf-8"?>
<Types xmlns="http://schemas.openxmlformats.org/package/2006/content-types">
  <Default Extension="bmp" ContentType="image/bmp"/>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77"/>
  </p:notesMasterIdLst>
  <p:sldIdLst>
    <p:sldId id="256" r:id="rId2"/>
    <p:sldId id="257" r:id="rId3"/>
    <p:sldId id="258" r:id="rId4"/>
    <p:sldId id="487" r:id="rId5"/>
    <p:sldId id="289" r:id="rId6"/>
    <p:sldId id="259" r:id="rId7"/>
    <p:sldId id="261" r:id="rId8"/>
    <p:sldId id="423" r:id="rId9"/>
    <p:sldId id="426" r:id="rId10"/>
    <p:sldId id="265" r:id="rId11"/>
    <p:sldId id="433" r:id="rId12"/>
    <p:sldId id="264" r:id="rId13"/>
    <p:sldId id="488" r:id="rId14"/>
    <p:sldId id="509" r:id="rId15"/>
    <p:sldId id="262" r:id="rId16"/>
    <p:sldId id="292" r:id="rId17"/>
    <p:sldId id="403" r:id="rId18"/>
    <p:sldId id="404" r:id="rId19"/>
    <p:sldId id="405" r:id="rId20"/>
    <p:sldId id="406" r:id="rId21"/>
    <p:sldId id="407" r:id="rId22"/>
    <p:sldId id="408" r:id="rId23"/>
    <p:sldId id="409" r:id="rId24"/>
    <p:sldId id="410" r:id="rId25"/>
    <p:sldId id="411" r:id="rId26"/>
    <p:sldId id="412" r:id="rId27"/>
    <p:sldId id="413" r:id="rId28"/>
    <p:sldId id="414" r:id="rId29"/>
    <p:sldId id="415" r:id="rId30"/>
    <p:sldId id="263" r:id="rId31"/>
    <p:sldId id="518" r:id="rId32"/>
    <p:sldId id="473" r:id="rId33"/>
    <p:sldId id="476" r:id="rId34"/>
    <p:sldId id="493" r:id="rId35"/>
    <p:sldId id="474" r:id="rId36"/>
    <p:sldId id="475" r:id="rId37"/>
    <p:sldId id="266" r:id="rId38"/>
    <p:sldId id="489" r:id="rId39"/>
    <p:sldId id="519" r:id="rId40"/>
    <p:sldId id="520" r:id="rId41"/>
    <p:sldId id="293" r:id="rId42"/>
    <p:sldId id="497" r:id="rId43"/>
    <p:sldId id="521" r:id="rId44"/>
    <p:sldId id="522" r:id="rId45"/>
    <p:sldId id="523" r:id="rId46"/>
    <p:sldId id="295" r:id="rId47"/>
    <p:sldId id="490" r:id="rId48"/>
    <p:sldId id="443" r:id="rId49"/>
    <p:sldId id="524" r:id="rId50"/>
    <p:sldId id="525" r:id="rId51"/>
    <p:sldId id="526" r:id="rId52"/>
    <p:sldId id="527" r:id="rId53"/>
    <p:sldId id="297" r:id="rId54"/>
    <p:sldId id="481" r:id="rId55"/>
    <p:sldId id="494" r:id="rId56"/>
    <p:sldId id="454" r:id="rId57"/>
    <p:sldId id="482" r:id="rId58"/>
    <p:sldId id="495" r:id="rId59"/>
    <p:sldId id="484" r:id="rId60"/>
    <p:sldId id="479" r:id="rId61"/>
    <p:sldId id="496" r:id="rId62"/>
    <p:sldId id="485" r:id="rId63"/>
    <p:sldId id="480" r:id="rId64"/>
    <p:sldId id="499" r:id="rId65"/>
    <p:sldId id="500" r:id="rId66"/>
    <p:sldId id="529" r:id="rId67"/>
    <p:sldId id="513" r:id="rId68"/>
    <p:sldId id="530" r:id="rId69"/>
    <p:sldId id="515" r:id="rId70"/>
    <p:sldId id="389" r:id="rId71"/>
    <p:sldId id="390" r:id="rId72"/>
    <p:sldId id="469" r:id="rId73"/>
    <p:sldId id="471" r:id="rId74"/>
    <p:sldId id="508" r:id="rId75"/>
    <p:sldId id="272" r:id="rId76"/>
  </p:sldIdLst>
  <p:sldSz cx="9144000" cy="5143500" type="screen16x9"/>
  <p:notesSz cx="6858000" cy="9144000"/>
  <p:embeddedFontLst>
    <p:embeddedFont>
      <p:font typeface="Poppins" panose="00000500000000000000"/>
      <p:regular r:id="rId78"/>
    </p:embeddedFont>
    <p:embeddedFont>
      <p:font typeface="Century Gothic" panose="020B0502020202020204" pitchFamily="34" charset="0"/>
      <p:regular r:id="rId79"/>
      <p:bold r:id="rId80"/>
      <p:italic r:id="rId81"/>
      <p:boldItalic r:id="rId82"/>
    </p:embeddedFont>
    <p:embeddedFont>
      <p:font typeface="Bebas Neue"/>
      <p:regular r:id="rId78"/>
    </p:embeddedFont>
    <p:embeddedFont>
      <p:font typeface="Poppins Black" panose="00000800000000000000"/>
      <p:bold r:id="rId78"/>
      <p:boldItalic r:id="rId78"/>
    </p:embeddedFont>
    <p:embeddedFont>
      <p:font typeface="Calibri" panose="020F0502020204030204" pitchFamily="34" charset="0"/>
      <p:regular r:id="rId83"/>
      <p:bold r:id="rId84"/>
      <p:italic r:id="rId85"/>
      <p:boldItalic r:id="rId8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86" y="8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6.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NUL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824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332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0709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9976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4726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97380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15821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9535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2420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6234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1988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2399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62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727147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90701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8716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28002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9/17/2025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9/17/2025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9/17/2025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9/17/2025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9/17/2025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3" Type="http://schemas.openxmlformats.org/officeDocument/2006/relationships/hyperlink" Target="https://www.sciencedirect.com/science/article/pii/S2773186324000148?utm_source=chatgpt.com" TargetMode="External"/><Relationship Id="rId2" Type="http://schemas.openxmlformats.org/officeDocument/2006/relationships/hyperlink" Target="https://www.nature.com/articles/s41598-025-09155-z?utm_source=chatgpt.com" TargetMode="External"/><Relationship Id="rId1" Type="http://schemas.openxmlformats.org/officeDocument/2006/relationships/slideLayout" Target="../slideLayouts/slideLayout7.xml"/><Relationship Id="rId5" Type="http://schemas.openxmlformats.org/officeDocument/2006/relationships/hyperlink" Target="https://www.nature.com/articles/s41598-023-40315-1?utm_source=chatgpt.com" TargetMode="External"/><Relationship Id="rId4" Type="http://schemas.openxmlformats.org/officeDocument/2006/relationships/hyperlink" Target="https://www.sciencedirect.com/science/article/abs/pii/S0278612524001870?utm_source=chatgpt.com"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s://www.sciencedirect.com/science/article/abs/pii/S0951832023000662?utm_source=chatgpt.com" TargetMode="External"/><Relationship Id="rId2" Type="http://schemas.openxmlformats.org/officeDocument/2006/relationships/hyperlink" Target="https://link.springer.com/article/10.1007/s44196-024-00639-w?utm_source=chatgpt.com" TargetMode="External"/><Relationship Id="rId1" Type="http://schemas.openxmlformats.org/officeDocument/2006/relationships/slideLayout" Target="../slideLayouts/slideLayout7.xml"/><Relationship Id="rId5" Type="http://schemas.openxmlformats.org/officeDocument/2006/relationships/hyperlink" Target="https://pmc.ncbi.nlm.nih.gov/articles/PMC10346437/?utm_source=chatgpt.com" TargetMode="External"/><Relationship Id="rId4" Type="http://schemas.openxmlformats.org/officeDocument/2006/relationships/hyperlink" Target="https://academic.oup.com/jcde/article/11/1/343/7610897"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pmc.ncbi.nlm.nih.gov/articles/PMC11174398/" TargetMode="External"/><Relationship Id="rId2" Type="http://schemas.openxmlformats.org/officeDocument/2006/relationships/hyperlink" Target="https://onlinelibrary.wiley.com/doi/10.1155/2024/6465566" TargetMode="External"/><Relationship Id="rId1" Type="http://schemas.openxmlformats.org/officeDocument/2006/relationships/slideLayout" Target="../slideLayouts/slideLayout7.xml"/><Relationship Id="rId5" Type="http://schemas.openxmlformats.org/officeDocument/2006/relationships/hyperlink" Target="https://arxiv.org/abs/2204.13574" TargetMode="External"/><Relationship Id="rId4" Type="http://schemas.openxmlformats.org/officeDocument/2006/relationships/hyperlink" Target="https://arxiv.org/abs/2104.03613" TargetMode="Externa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1925349" y="1800081"/>
            <a:ext cx="5422605" cy="1569660"/>
          </a:xfrm>
          <a:prstGeom prst="rect">
            <a:avLst/>
          </a:prstGeom>
        </p:spPr>
        <p:txBody>
          <a:bodyPr wrap="square">
            <a:spAutoFit/>
          </a:bodyPr>
          <a:lstStyle/>
          <a:p>
            <a:pPr algn="ctr"/>
            <a:r>
              <a:rPr lang="en-US" sz="3200" dirty="0">
                <a:latin typeface="Times New Roman" panose="02020603050405020304" pitchFamily="18" charset="0"/>
                <a:ea typeface="Times New Roman" panose="02020603050405020304" pitchFamily="18" charset="0"/>
              </a:rPr>
              <a:t>Prediction of Remaining Useful Life for </a:t>
            </a:r>
            <a:r>
              <a:rPr lang="en-US" sz="3200" dirty="0" err="1">
                <a:latin typeface="Times New Roman" panose="02020603050405020304" pitchFamily="18" charset="0"/>
                <a:ea typeface="Times New Roman" panose="02020603050405020304" pitchFamily="18" charset="0"/>
              </a:rPr>
              <a:t>AeroEngines</a:t>
            </a:r>
            <a:endParaRPr lang="en-IN" sz="3200" dirty="0">
              <a:latin typeface="Times New Roman" panose="02020603050405020304" pitchFamily="18" charset="0"/>
              <a:ea typeface="Times New Roman" panose="02020603050405020304" pitchFamily="18" charset="0"/>
            </a:endParaRPr>
          </a:p>
          <a:p>
            <a:pPr algn="ctr"/>
            <a:endParaRPr lang="en-IN" sz="3200" dirty="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flow</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UMLS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Research Gap analysis</a:t>
            </a:r>
          </a:p>
          <a:p>
            <a:pPr algn="just">
              <a:lnSpc>
                <a:spcPct val="150000"/>
              </a:lnSpc>
            </a:pPr>
            <a:endParaRPr lang="en-US" sz="12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138061" y="1245700"/>
            <a:ext cx="3728172" cy="313932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smtClean="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2. working Process</a:t>
            </a:r>
          </a:p>
          <a:p>
            <a:pPr algn="just">
              <a:lnSpc>
                <a:spcPct val="150000"/>
              </a:lnSpc>
            </a:pPr>
            <a:r>
              <a:rPr lang="en-US" sz="1200" dirty="0" smtClean="0">
                <a:latin typeface="Times New Roman" panose="02020603050405020304" pitchFamily="18" charset="0"/>
                <a:cs typeface="Times New Roman" panose="02020603050405020304" pitchFamily="18" charset="0"/>
              </a:rPr>
              <a:t>	3. Results from Algorithm</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Performance comparison</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Future </a:t>
            </a:r>
            <a:r>
              <a:rPr lang="en-US" sz="1200" dirty="0" smtClean="0">
                <a:latin typeface="Times New Roman" panose="02020603050405020304" pitchFamily="18" charset="0"/>
                <a:cs typeface="Times New Roman" panose="02020603050405020304" pitchFamily="18" charset="0"/>
              </a:rPr>
              <a:t>Scope</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Conclusion</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69109" y="539261"/>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669109" y="1224546"/>
            <a:ext cx="7907333" cy="3608488"/>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prediction of Remaining Useful Life (RUL) in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plays a crucial role in modern predictive maintenance strategies within the aviation industry. Accurate estimation of RUL not only reduces operational costs but also enhances safety, efficiency, and reliability by preventing unexpected engine failures. This project, titled </a:t>
            </a:r>
            <a:r>
              <a:rPr lang="en-US" sz="1400" i="1" dirty="0">
                <a:latin typeface="Times New Roman" panose="02020603050405020304" pitchFamily="18" charset="0"/>
                <a:cs typeface="Times New Roman" panose="02020603050405020304" pitchFamily="18" charset="0"/>
              </a:rPr>
              <a:t>“Prediction of Remaining Useful Life for </a:t>
            </a:r>
            <a:r>
              <a:rPr lang="en-US" sz="1400" i="1" dirty="0" err="1">
                <a:latin typeface="Times New Roman" panose="02020603050405020304" pitchFamily="18" charset="0"/>
                <a:cs typeface="Times New Roman" panose="02020603050405020304" pitchFamily="18" charset="0"/>
              </a:rPr>
              <a:t>AeroEngines</a:t>
            </a:r>
            <a:r>
              <a:rPr lang="en-US" sz="1400" i="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explores the application of advanced machine learning algorithms to analyze sensor and operational data for forecasting engine degradation patterns. Several models, 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K-Nearest Neighbors (KNN), Feedforward Neural Networks (FNN), and 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 are developed and rigorously evaluated. Performance is measured using Mean Squared Error (MSE) and R² Score, with the </a:t>
            </a:r>
            <a:r>
              <a:rPr lang="en-US" sz="1400" b="1" dirty="0">
                <a:latin typeface="Times New Roman" panose="02020603050405020304" pitchFamily="18" charset="0"/>
                <a:cs typeface="Times New Roman" panose="02020603050405020304" pitchFamily="18" charset="0"/>
              </a:rPr>
              <a:t>Extra Trees </a:t>
            </a:r>
            <a:r>
              <a:rPr lang="en-US" sz="1400" b="1"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MLP</a:t>
            </a:r>
            <a:r>
              <a:rPr lang="en-US" sz="1400" dirty="0">
                <a:latin typeface="Times New Roman" panose="02020603050405020304" pitchFamily="18" charset="0"/>
                <a:cs typeface="Times New Roman" panose="02020603050405020304" pitchFamily="18" charset="0"/>
              </a:rPr>
              <a:t> models emerging as the most effective in delivering reliable and accurate predictions of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32474" y="33748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790031" y="1042950"/>
            <a:ext cx="7628753" cy="3931654"/>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To ensure transparency in decision-making, Explainable AI (XAI) techniques such as SHAP are employed, offering insights into feature importance and model interpretability. The proposed solution is implemented as a Flask-based web application that enables users to upload datasets, compare model performances, and obtain real-time RUL predictions. Furthermore, the system incorporates health state categorization—NORMAL, WARNING, and CRITICAL—and provides actionable maintenance recommendations. This research contributes to proactive aviation maintenance scheduling and minimizes risks associated with unforeseen engine breakdowns.</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Keywords:</a:t>
            </a:r>
            <a:r>
              <a:rPr lang="en-US" sz="1400" dirty="0">
                <a:latin typeface="Times New Roman" panose="02020603050405020304" pitchFamily="18" charset="0"/>
                <a:cs typeface="Times New Roman" panose="02020603050405020304" pitchFamily="18" charset="0"/>
              </a:rPr>
              <a:t> Remaining Useful Life,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Machine Learning, Extra Trees, Multi-Layer Perceptron, Predictive Maintenance, Explainable AI, SHAP, Flask Application, Aviation Reliability</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2244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68206" y="201041"/>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61242" y="1018206"/>
            <a:ext cx="7126014" cy="3647152"/>
          </a:xfrm>
          <a:prstGeom prst="rect">
            <a:avLst/>
          </a:prstGeom>
          <a:noFill/>
        </p:spPr>
        <p:txBody>
          <a:bodyPr wrap="square" rtlCol="0">
            <a:spAutoFit/>
          </a:bodyPr>
          <a:lstStyle/>
          <a:p>
            <a:pPr algn="just">
              <a:lnSpc>
                <a:spcPct val="150000"/>
              </a:lnSpc>
            </a:pP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are among the most critical components in aviation, where even minor failures can lead to severe consequences, including safety risks, operational disruptions, and high maintenance costs. Traditional maintenance practices, such as scheduled inspections or corrective maintenance, often result in either premature servicing or unexpected breakdowns. These approaches lack efficiency and fail to leverage the vast amount of sensor and operational data collected from modern engines. The challenge lies in accurately predicting the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to enable timely and proactive maintenance actions. Developing robust, interpretable, and deployable machine learning models for RUL prediction is therefore essential to enhance safety, reduce downtime, and optimize the overall reliability of aviation operations.</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765084" y="295699"/>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smtClean="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585115" y="1002240"/>
            <a:ext cx="8073838"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lnSpc>
                <a:spcPct val="150000"/>
              </a:lnSpc>
              <a:buNone/>
            </a:pPr>
            <a:r>
              <a:rPr lang="en-IN" sz="1400" dirty="0">
                <a:solidFill>
                  <a:schemeClr val="tx1"/>
                </a:solidFill>
                <a:latin typeface="Times New Roman" panose="02020603050405020304" pitchFamily="18" charset="0"/>
                <a:cs typeface="Times New Roman" panose="02020603050405020304" pitchFamily="18" charset="0"/>
              </a:rPr>
              <a:t>The objective of this project is to develop an intelligent, AI-driven framework for predicting the life expectancy and Remaining Useful Life (RUL) of implantable medical devices such as pacemakers and defibrillators. These devices are vital for sustaining patient health and safety, and their timely maintenance or replacement is crucial in avoiding critical failures. The proposed system employs a data-centric approach using regression-based machine learning and deep learning models to forecast device deterioration based on historical and real-time operational parameters. Unlike conventional threshold-based monitoring systems that only trigger alerts after issues arise, this predictive system proactively </a:t>
            </a:r>
            <a:r>
              <a:rPr lang="en-IN" sz="1400" dirty="0" err="1">
                <a:solidFill>
                  <a:schemeClr val="tx1"/>
                </a:solidFill>
                <a:latin typeface="Times New Roman" panose="02020603050405020304" pitchFamily="18" charset="0"/>
                <a:cs typeface="Times New Roman" panose="02020603050405020304" pitchFamily="18" charset="0"/>
              </a:rPr>
              <a:t>analyzes</a:t>
            </a:r>
            <a:r>
              <a:rPr lang="en-IN" sz="1400" dirty="0">
                <a:solidFill>
                  <a:schemeClr val="tx1"/>
                </a:solidFill>
                <a:latin typeface="Times New Roman" panose="02020603050405020304" pitchFamily="18" charset="0"/>
                <a:cs typeface="Times New Roman" panose="02020603050405020304" pitchFamily="18" charset="0"/>
              </a:rPr>
              <a:t> patterns and trends in device </a:t>
            </a:r>
            <a:r>
              <a:rPr lang="en-IN" sz="1400" dirty="0" err="1">
                <a:solidFill>
                  <a:schemeClr val="tx1"/>
                </a:solidFill>
                <a:latin typeface="Times New Roman" panose="02020603050405020304" pitchFamily="18" charset="0"/>
                <a:cs typeface="Times New Roman" panose="02020603050405020304" pitchFamily="18" charset="0"/>
              </a:rPr>
              <a:t>behavior</a:t>
            </a:r>
            <a:r>
              <a:rPr lang="en-IN" sz="1400" dirty="0">
                <a:solidFill>
                  <a:schemeClr val="tx1"/>
                </a:solidFill>
                <a:latin typeface="Times New Roman" panose="02020603050405020304" pitchFamily="18" charset="0"/>
                <a:cs typeface="Times New Roman" panose="02020603050405020304" pitchFamily="18" charset="0"/>
              </a:rPr>
              <a:t> to provide early warnings. The core goal is to integrate a robust predictive layer into healthcare infrastructure that enables preventive action and improves patient outcomes.</a:t>
            </a:r>
          </a:p>
          <a:p>
            <a:pPr marL="146050" indent="0" algn="just">
              <a:lnSpc>
                <a:spcPct val="150000"/>
              </a:lnSpc>
              <a:buNone/>
            </a:pPr>
            <a:endParaRPr lang="en-IN" sz="1400" dirty="0">
              <a:solidFill>
                <a:schemeClr val="tx1"/>
              </a:solidFill>
              <a:latin typeface="Times New Roman" panose="02020603050405020304" pitchFamily="18" charset="0"/>
              <a:cs typeface="Times New Roman" panose="02020603050405020304" pitchFamily="18" charset="0"/>
            </a:endParaRPr>
          </a:p>
          <a:p>
            <a:pPr marL="146050" indent="0" algn="just">
              <a:lnSpc>
                <a:spcPct val="150000"/>
              </a:lnSpc>
              <a:buNone/>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47839" y="247545"/>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798787" y="1188694"/>
            <a:ext cx="7838612" cy="3285323"/>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This project covers the end-to-end development of a predictive maintenance solution tailored for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The scope includes data preprocessing, feature engineering, training of machine learning models, and comparative evaluation of algorithms. Advanced models like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are emphasized for their predictive accuracy, while SHAP-based interpretability enhances transparency in decision-making. The project further extends to deploying the solution as a user-friendly Flask web application, enabling dataset uploads, model comparison, and real-time RUL prediction. Additionally, the system categorizes engine health states (NORMAL, WARNING, CRITICAL) and suggests maintenance strategies accordingly. However, the project is limited to the datasets used for model training and does not include integration with live aircraft systems or real-time sensor streaming.</a:t>
            </a:r>
            <a:endParaRPr lang="en-IN" sz="1400" dirty="0">
              <a:latin typeface="Times New Roman" panose="02020603050405020304" pitchFamily="18" charset="0"/>
              <a:cs typeface="Times New Roman" panose="02020603050405020304" pitchFamily="18" charset="0"/>
            </a:endParaRPr>
          </a:p>
          <a:p>
            <a:pPr algn="just">
              <a:lnSpc>
                <a:spcPct val="150000"/>
              </a:lnSpc>
            </a:pPr>
            <a:endParaRPr lang="en-IN" sz="1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950" y="317500"/>
            <a:ext cx="5067300" cy="609600"/>
          </a:xfrm>
        </p:spPr>
        <p:txBody>
          <a:bodyPr/>
          <a:lstStyle/>
          <a:p>
            <a:r>
              <a:rPr lang="en-GB" sz="2400" dirty="0" smtClean="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80834" y="1065406"/>
            <a:ext cx="7792537" cy="3496163"/>
          </a:xfrm>
          <a:prstGeom prst="rect">
            <a:avLst/>
          </a:prstGeom>
        </p:spPr>
      </p:pic>
    </p:spTree>
    <p:extLst>
      <p:ext uri="{BB962C8B-B14F-4D97-AF65-F5344CB8AC3E}">
        <p14:creationId xmlns:p14="http://schemas.microsoft.com/office/powerpoint/2010/main" val="4022066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9837" y="993132"/>
            <a:ext cx="8028646" cy="3724795"/>
          </a:xfrm>
          <a:prstGeom prst="rect">
            <a:avLst/>
          </a:prstGeom>
        </p:spPr>
      </p:pic>
      <p:sp>
        <p:nvSpPr>
          <p:cNvPr id="4" name="Rectangle 3"/>
          <p:cNvSpPr/>
          <p:nvPr/>
        </p:nvSpPr>
        <p:spPr>
          <a:xfrm>
            <a:off x="3573954" y="484711"/>
            <a:ext cx="1806905" cy="369332"/>
          </a:xfrm>
          <a:prstGeom prst="rect">
            <a:avLst/>
          </a:prstGeom>
        </p:spPr>
        <p:txBody>
          <a:bodyPr wrap="none">
            <a:spAutoFit/>
          </a:bodyPr>
          <a:lstStyle/>
          <a:p>
            <a:r>
              <a:rPr lang="en-GB" dirty="0">
                <a:latin typeface="Times New Roman" panose="02020603050405020304" pitchFamily="18" charset="0"/>
                <a:cs typeface="Times New Roman" panose="02020603050405020304" pitchFamily="18" charset="0"/>
              </a:rPr>
              <a:t>Literature Survey</a:t>
            </a:r>
            <a:endParaRPr lang="en-IN" dirty="0"/>
          </a:p>
        </p:txBody>
      </p:sp>
    </p:spTree>
    <p:extLst>
      <p:ext uri="{BB962C8B-B14F-4D97-AF65-F5344CB8AC3E}">
        <p14:creationId xmlns:p14="http://schemas.microsoft.com/office/powerpoint/2010/main" val="8581858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516541" y="282375"/>
            <a:ext cx="81861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Significant </a:t>
            </a:r>
          </a:p>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accurate prediction of Remaining Useful Life (RUL) in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is of paramount importance in modern aviation, where safety, reliability, and operational efficiency are critical. Unanticipated engine failures can result in severe safety hazards, unscheduled maintenance, and significant financial losses for airlines. Traditional maintenance strategies, such as scheduled or reactive maintenance, often fail to optimize the use of engine components, either causing premature replacements or overlooking impending failures. Predictive maintenance, enabled through advanced data-driven approaches, addresses these limitations by leveraging real-time and historical sensor data to forecast engine health accurately. This project demonstrates the application of advanced machine learning techniques to predict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By integrating models such as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K-Nearest Neighbors (KNN), Feedforward Neural Networks (FNN), and 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 the study identifies the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as the most effective in producing reliable predictions.</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Rectangle 1"/>
          <p:cNvSpPr>
            <a:spLocks noChangeArrowheads="1"/>
          </p:cNvSpPr>
          <p:nvPr/>
        </p:nvSpPr>
        <p:spPr bwMode="auto">
          <a:xfrm>
            <a:off x="691293" y="1244437"/>
            <a:ext cx="7757690"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use of Explainable AI (XAI) techniques like SHAP adds a layer of transparency, allowing maintenance engineers and decision-makers to understand the contribution of each sensor and operational feature to the model’s predictions.</a:t>
            </a:r>
          </a:p>
          <a:p>
            <a:pPr algn="just">
              <a:lnSpc>
                <a:spcPct val="150000"/>
              </a:lnSpc>
            </a:pPr>
            <a:r>
              <a:rPr lang="en-US" sz="1400" dirty="0">
                <a:latin typeface="Times New Roman" panose="02020603050405020304" pitchFamily="18" charset="0"/>
                <a:cs typeface="Times New Roman" panose="02020603050405020304" pitchFamily="18" charset="0"/>
              </a:rPr>
              <a:t>The implementation as a Flask-based web application provides a user-friendly platform for real-time prediction, comparison of model performance, and actionable maintenance guidance. Furthermore, the system categorizes engine health into NORMAL, WARNING, and CRITICAL states, enabling proactive intervention and reducing operational risks. Overall, this work significantly contributes to the aviation industry by enhancing predictive maintenance capabilities, improving aircraft availability, reducing costs, and safeguarding passengers and crew through data-driven insights into engine performance.</a:t>
            </a:r>
          </a:p>
          <a:p>
            <a:pPr lvl="0" algn="just"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565382" y="619299"/>
            <a:ext cx="1864613" cy="579967"/>
          </a:xfrm>
          <a:prstGeom prst="rect">
            <a:avLst/>
          </a:prstGeom>
        </p:spPr>
        <p:txBody>
          <a:bodyPr wrap="none">
            <a:spAutoFit/>
          </a:bodyPr>
          <a:lstStyle/>
          <a:p>
            <a:pPr lvl="0" algn="just"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Significant </a:t>
            </a:r>
          </a:p>
        </p:txBody>
      </p:sp>
    </p:spTree>
    <p:extLst>
      <p:ext uri="{BB962C8B-B14F-4D97-AF65-F5344CB8AC3E}">
        <p14:creationId xmlns:p14="http://schemas.microsoft.com/office/powerpoint/2010/main" val="12241053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598095"/>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00917" y="1158355"/>
            <a:ext cx="7291666" cy="3862596"/>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proposed system is a data-driven, machine learning-based platform for predicting the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It collects sensor and operational data from engines and applies preprocessing and feature extraction techniques to prepare the data for modeling. Multiple machine learning models—including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MLP—are developed and evaluated for performance, with Extra Trees and MLP identified as the most reliable predictors. Explainable AI (XAI) using SHAP provides transparency, highlighting the influence of each feature on the RUL predictions. The system is deployed as a Flask web application, enabling users to upload datasets, generate real-time predictions, compare models, and categorize engine health into NORMAL, WARNING, or CRITICAL, along with actionable maintenance recommendations.</a:t>
            </a:r>
          </a:p>
          <a:p>
            <a:pPr algn="just">
              <a:lnSpc>
                <a:spcPct val="150000"/>
              </a:lnSpc>
            </a:pP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38150" y="637774"/>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a:spLocks noChangeArrowheads="1"/>
          </p:cNvSpPr>
          <p:nvPr/>
        </p:nvSpPr>
        <p:spPr bwMode="auto">
          <a:xfrm rot="10800000" flipV="1">
            <a:off x="787510" y="1194599"/>
            <a:ext cx="7600857"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Proactive Maintenance</a:t>
            </a:r>
            <a:r>
              <a:rPr lang="en-US" altLang="en-US" sz="1400" dirty="0">
                <a:latin typeface="Times New Roman" panose="02020603050405020304" pitchFamily="18" charset="0"/>
                <a:cs typeface="Times New Roman" panose="02020603050405020304" pitchFamily="18" charset="0"/>
              </a:rPr>
              <a:t> – Enables timely maintenance interventions, reducing the likelihood of unexpected engine failures.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Cost Efficiency</a:t>
            </a:r>
            <a:r>
              <a:rPr lang="en-US" altLang="en-US" sz="1400" dirty="0">
                <a:latin typeface="Times New Roman" panose="02020603050405020304" pitchFamily="18" charset="0"/>
                <a:cs typeface="Times New Roman" panose="02020603050405020304" pitchFamily="18" charset="0"/>
              </a:rPr>
              <a:t> – Minimizes unnecessary part replacements and operational downtime, lowering overall maintenance costs.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Improved Safety and Reliability</a:t>
            </a:r>
            <a:r>
              <a:rPr lang="en-US" altLang="en-US" sz="1400" dirty="0">
                <a:latin typeface="Times New Roman" panose="02020603050405020304" pitchFamily="18" charset="0"/>
                <a:cs typeface="Times New Roman" panose="02020603050405020304" pitchFamily="18" charset="0"/>
              </a:rPr>
              <a:t> – Enhances aircraft operational safety by accurately predicting engine degradation trends.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Interpretability</a:t>
            </a:r>
            <a:r>
              <a:rPr lang="en-US" altLang="en-US" sz="1400" dirty="0">
                <a:latin typeface="Times New Roman" panose="02020603050405020304" pitchFamily="18" charset="0"/>
                <a:cs typeface="Times New Roman" panose="02020603050405020304" pitchFamily="18" charset="0"/>
              </a:rPr>
              <a:t> – SHAP-based Explainable AI provides transparency in model predictions, allowing engineers to understand feature contributions.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Real-Time Decision Support</a:t>
            </a:r>
            <a:r>
              <a:rPr lang="en-US" altLang="en-US" sz="1400" dirty="0">
                <a:latin typeface="Times New Roman" panose="02020603050405020304" pitchFamily="18" charset="0"/>
                <a:cs typeface="Times New Roman" panose="02020603050405020304" pitchFamily="18" charset="0"/>
              </a:rPr>
              <a:t> – Flask-based web application facilitates real-time RUL predictions, model comparisons, and actionable maintenance recommendations.</a:t>
            </a:r>
          </a:p>
          <a:p>
            <a:pPr marR="0" lvl="0" algn="l" defTabSz="914400" rtl="0" eaLnBrk="0" fontAlgn="base" latinLnBrk="0" hangingPunct="0">
              <a:lnSpc>
                <a:spcPct val="15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64710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363312" y="1408808"/>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PROJECT FLOW</a:t>
            </a:r>
            <a:br>
              <a:rPr sz="2400" b="1" dirty="0" smtClean="0">
                <a:latin typeface="Times New Roman" panose="02020603050405020304" pitchFamily="18" charset="0"/>
                <a:cs typeface="Times New Roman" panose="02020603050405020304" pitchFamily="18" charset="0"/>
              </a:rPr>
            </a:b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3405247" y="557048"/>
            <a:ext cx="4906010" cy="4069740"/>
          </a:xfrm>
          <a:prstGeom prst="rect">
            <a:avLst/>
          </a:prstGeom>
        </p:spPr>
      </p:pic>
    </p:spTree>
    <p:extLst>
      <p:ext uri="{BB962C8B-B14F-4D97-AF65-F5344CB8AC3E}">
        <p14:creationId xmlns:p14="http://schemas.microsoft.com/office/powerpoint/2010/main" val="22061741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smtClean="0">
                <a:latin typeface="Times New Roman" panose="02020603050405020304" pitchFamily="18" charset="0"/>
                <a:cs typeface="Times New Roman" panose="02020603050405020304" pitchFamily="18" charset="0"/>
              </a:rPr>
              <a:t>I5/Intel Processor, </a:t>
            </a:r>
            <a:r>
              <a:rPr lang="en-IN" sz="800" b="1" dirty="0" smtClean="0">
                <a:latin typeface="Times New Roman" panose="02020603050405020304" pitchFamily="18" charset="0"/>
                <a:cs typeface="Times New Roman" panose="02020603050405020304" pitchFamily="18" charset="0"/>
              </a:rPr>
              <a:t>RAM:</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8GB (</a:t>
            </a:r>
            <a:r>
              <a:rPr lang="en-IN" sz="800" dirty="0" smtClean="0">
                <a:latin typeface="Times New Roman" panose="02020603050405020304" pitchFamily="18" charset="0"/>
                <a:cs typeface="Times New Roman" panose="02020603050405020304" pitchFamily="18" charset="0"/>
              </a:rPr>
              <a:t>min), </a:t>
            </a:r>
            <a:r>
              <a:rPr lang="en-IN" sz="800" b="1" dirty="0" smtClean="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a:t>
            </a:r>
            <a:r>
              <a:rPr lang="en-IN" sz="800" dirty="0" smtClean="0">
                <a:latin typeface="Times New Roman" panose="02020603050405020304" pitchFamily="18" charset="0"/>
                <a:cs typeface="Times New Roman" panose="02020603050405020304" pitchFamily="18" charset="0"/>
              </a:rPr>
              <a:t>GB</a:t>
            </a:r>
            <a:r>
              <a:rPr lang="en-IN" sz="800" b="1" dirty="0" smtClean="0">
                <a:latin typeface="Times New Roman" panose="02020603050405020304" pitchFamily="18" charset="0"/>
                <a:cs typeface="Times New Roman" panose="02020603050405020304" pitchFamily="18" charset="0"/>
              </a:rPr>
              <a:t>, Key Board:</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Standard Windows </a:t>
            </a:r>
            <a:r>
              <a:rPr lang="en-IN" sz="800" dirty="0" smtClean="0">
                <a:latin typeface="Times New Roman" panose="02020603050405020304" pitchFamily="18" charset="0"/>
                <a:cs typeface="Times New Roman" panose="02020603050405020304" pitchFamily="18" charset="0"/>
              </a:rPr>
              <a:t>Keyboard, </a:t>
            </a:r>
            <a:r>
              <a:rPr lang="en-IN" sz="800" b="1" dirty="0" smtClean="0">
                <a:latin typeface="Times New Roman" panose="02020603050405020304" pitchFamily="18" charset="0"/>
                <a:cs typeface="Times New Roman" panose="02020603050405020304" pitchFamily="18" charset="0"/>
              </a:rPr>
              <a:t>Mouse:</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Two or Three Button </a:t>
            </a:r>
            <a:r>
              <a:rPr lang="en-IN" sz="800" dirty="0" smtClean="0">
                <a:latin typeface="Times New Roman" panose="02020603050405020304" pitchFamily="18" charset="0"/>
                <a:cs typeface="Times New Roman" panose="02020603050405020304" pitchFamily="18" charset="0"/>
              </a:rPr>
              <a:t>Mouse)</a:t>
            </a:r>
            <a:endParaRPr lang="en-IN" sz="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smtClean="0">
                <a:latin typeface="Times New Roman" panose="02020603050405020304" pitchFamily="18" charset="0"/>
                <a:cs typeface="Times New Roman" panose="02020603050405020304" pitchFamily="18" charset="0"/>
              </a:rPr>
              <a:t>(</a:t>
            </a:r>
            <a:r>
              <a:rPr lang="en-US" sz="800" b="1" dirty="0" smtClean="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a:t>
            </a:r>
            <a:r>
              <a:rPr lang="en-US" sz="800" dirty="0" smtClean="0">
                <a:latin typeface="Times New Roman" panose="02020603050405020304" pitchFamily="18" charset="0"/>
                <a:cs typeface="Times New Roman" panose="02020603050405020304" pitchFamily="18" charset="0"/>
              </a:rPr>
              <a:t>10, </a:t>
            </a:r>
            <a:r>
              <a:rPr lang="en-US" sz="800" b="1" dirty="0" smtClean="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a:t>
            </a:r>
            <a:r>
              <a:rPr lang="en-US" sz="800" dirty="0" smtClean="0">
                <a:latin typeface="Times New Roman" panose="02020603050405020304" pitchFamily="18" charset="0"/>
                <a:cs typeface="Times New Roman" panose="02020603050405020304" pitchFamily="18" charset="0"/>
              </a:rPr>
              <a:t>3.10.8, </a:t>
            </a:r>
            <a:r>
              <a:rPr lang="en-US" sz="800" b="1" dirty="0" smtClean="0">
                <a:latin typeface="Times New Roman" panose="02020603050405020304" pitchFamily="18" charset="0"/>
                <a:cs typeface="Times New Roman" panose="02020603050405020304" pitchFamily="18" charset="0"/>
              </a:rPr>
              <a:t>IDE: </a:t>
            </a:r>
            <a:r>
              <a:rPr lang="en-US" sz="800" dirty="0" smtClean="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Django,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Scikit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-learn, Pandas,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Imblearn</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and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Matplotlib</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1706245" y="1191866"/>
            <a:ext cx="5731510" cy="343188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083" y="1116619"/>
            <a:ext cx="6783860" cy="2354491"/>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Use Case Diagram:</a:t>
            </a:r>
          </a:p>
          <a:p>
            <a:pPr lvl="1" algn="just"/>
            <a:r>
              <a:rPr lang="en-US" sz="1400" b="1" dirty="0"/>
              <a:t>1) </a:t>
            </a:r>
            <a:r>
              <a:rPr lang="en-US" sz="14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2) </a:t>
            </a:r>
            <a:r>
              <a:rPr lang="en-US" sz="14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3) </a:t>
            </a:r>
            <a:r>
              <a:rPr lang="en-US" sz="14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1400" dirty="0">
              <a:latin typeface="Times New Roman" panose="02020603050405020304" pitchFamily="18" charset="0"/>
              <a:cs typeface="Times New Roman" panose="02020603050405020304" pitchFamily="18" charset="0"/>
            </a:endParaRPr>
          </a:p>
        </p:txBody>
      </p:sp>
      <p:sp>
        <p:nvSpPr>
          <p:cNvPr id="2" name="Rectangle 1"/>
          <p:cNvSpPr/>
          <p:nvPr/>
        </p:nvSpPr>
        <p:spPr>
          <a:xfrm>
            <a:off x="2383141" y="254877"/>
            <a:ext cx="3598100" cy="635367"/>
          </a:xfrm>
          <a:prstGeom prst="rect">
            <a:avLst/>
          </a:prstGeom>
        </p:spPr>
        <p:txBody>
          <a:bodyPr wrap="none">
            <a:spAutoFit/>
          </a:bodyPr>
          <a:lstStyle/>
          <a:p>
            <a:pPr lvl="2" algn="ctr">
              <a:lnSpc>
                <a:spcPct val="170000"/>
              </a:lnSpc>
            </a:pPr>
            <a:r>
              <a:rPr lang="en-US" sz="24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8061344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60057" y="0"/>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3331844" y="4298080"/>
            <a:ext cx="2480310" cy="253916"/>
          </a:xfrm>
          <a:prstGeom prst="rect">
            <a:avLst/>
          </a:prstGeom>
          <a:noFill/>
        </p:spPr>
        <p:txBody>
          <a:bodyPr wrap="square" rtlCol="0">
            <a:spAutoFit/>
          </a:bodyPr>
          <a:lstStyle/>
          <a:p>
            <a:pPr algn="ctr"/>
            <a:r>
              <a:rPr lang="en-US" sz="1050" b="1" dirty="0">
                <a:latin typeface="Times New Roman" panose="02020603050405020304" pitchFamily="18" charset="0"/>
                <a:cs typeface="Times New Roman" panose="02020603050405020304" pitchFamily="18" charset="0"/>
              </a:rPr>
              <a:t>Figure: Use Case Diagram</a:t>
            </a:r>
          </a:p>
        </p:txBody>
      </p:sp>
      <p:pic>
        <p:nvPicPr>
          <p:cNvPr id="5" name="Picture 4"/>
          <p:cNvPicPr/>
          <p:nvPr/>
        </p:nvPicPr>
        <p:blipFill>
          <a:blip r:embed="rId2"/>
          <a:stretch>
            <a:fillRect/>
          </a:stretch>
        </p:blipFill>
        <p:spPr>
          <a:xfrm>
            <a:off x="1776048" y="601066"/>
            <a:ext cx="5731510" cy="3592561"/>
          </a:xfrm>
          <a:prstGeom prst="rect">
            <a:avLst/>
          </a:prstGeom>
        </p:spPr>
      </p:pic>
    </p:spTree>
    <p:extLst>
      <p:ext uri="{BB962C8B-B14F-4D97-AF65-F5344CB8AC3E}">
        <p14:creationId xmlns:p14="http://schemas.microsoft.com/office/powerpoint/2010/main" val="30094215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069" y="31637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Class Diagram:</a:t>
            </a:r>
          </a:p>
          <a:p>
            <a:pPr algn="just">
              <a:lnSpc>
                <a:spcPct val="150000"/>
              </a:lnSpc>
            </a:pPr>
            <a:r>
              <a:rPr lang="en-US" sz="14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847531" y="2047617"/>
            <a:ext cx="5448935" cy="2708713"/>
          </a:xfrm>
          <a:prstGeom prst="rect">
            <a:avLst/>
          </a:prstGeom>
        </p:spPr>
      </p:pic>
    </p:spTree>
    <p:extLst>
      <p:ext uri="{BB962C8B-B14F-4D97-AF65-F5344CB8AC3E}">
        <p14:creationId xmlns:p14="http://schemas.microsoft.com/office/powerpoint/2010/main" val="6953118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244" y="626503"/>
            <a:ext cx="3725890" cy="3046988"/>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Sequence Diagram:</a:t>
            </a:r>
            <a:endParaRPr lang="en-US" sz="15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14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1400" dirty="0">
              <a:latin typeface="Times New Roman" panose="02020603050405020304" pitchFamily="18" charset="0"/>
              <a:cs typeface="Times New Roman" panose="02020603050405020304" pitchFamily="18" charset="0"/>
            </a:endParaRPr>
          </a:p>
          <a:p>
            <a:pPr lvl="0" algn="just">
              <a:lnSpc>
                <a:spcPct val="150000"/>
              </a:lnSpc>
            </a:pPr>
            <a:endParaRPr lang="en-US" sz="15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5021916" y="4485656"/>
            <a:ext cx="2542736"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Sequence diagram</a:t>
            </a:r>
          </a:p>
        </p:txBody>
      </p:sp>
      <p:pic>
        <p:nvPicPr>
          <p:cNvPr id="5" name="Picture 4"/>
          <p:cNvPicPr/>
          <p:nvPr/>
        </p:nvPicPr>
        <p:blipFill>
          <a:blip r:embed="rId2"/>
          <a:stretch>
            <a:fillRect/>
          </a:stretch>
        </p:blipFill>
        <p:spPr>
          <a:xfrm>
            <a:off x="4322884" y="458349"/>
            <a:ext cx="4253557" cy="3903443"/>
          </a:xfrm>
          <a:prstGeom prst="rect">
            <a:avLst/>
          </a:prstGeom>
        </p:spPr>
      </p:pic>
    </p:spTree>
    <p:extLst>
      <p:ext uri="{BB962C8B-B14F-4D97-AF65-F5344CB8AC3E}">
        <p14:creationId xmlns:p14="http://schemas.microsoft.com/office/powerpoint/2010/main" val="19087341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181" y="436497"/>
            <a:ext cx="4123097" cy="3670236"/>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Collaboration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4291173" y="4415066"/>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Collaboration diagram</a:t>
            </a:r>
          </a:p>
        </p:txBody>
      </p:sp>
      <p:pic>
        <p:nvPicPr>
          <p:cNvPr id="7" name="Picture 6"/>
          <p:cNvPicPr/>
          <p:nvPr/>
        </p:nvPicPr>
        <p:blipFill>
          <a:blip r:embed="rId2"/>
          <a:stretch>
            <a:fillRect/>
          </a:stretch>
        </p:blipFill>
        <p:spPr>
          <a:xfrm>
            <a:off x="4484698" y="909965"/>
            <a:ext cx="4191985" cy="3304683"/>
          </a:xfrm>
          <a:prstGeom prst="rect">
            <a:avLst/>
          </a:prstGeom>
        </p:spPr>
      </p:pic>
    </p:spTree>
    <p:extLst>
      <p:ext uri="{BB962C8B-B14F-4D97-AF65-F5344CB8AC3E}">
        <p14:creationId xmlns:p14="http://schemas.microsoft.com/office/powerpoint/2010/main" val="66719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05470" y="30854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Deployment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141806" y="4255980"/>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Deployment diagram</a:t>
            </a:r>
          </a:p>
        </p:txBody>
      </p:sp>
      <p:pic>
        <p:nvPicPr>
          <p:cNvPr id="7" name="Picture 6"/>
          <p:cNvPicPr/>
          <p:nvPr/>
        </p:nvPicPr>
        <p:blipFill>
          <a:blip r:embed="rId2"/>
          <a:stretch>
            <a:fillRect/>
          </a:stretch>
        </p:blipFill>
        <p:spPr>
          <a:xfrm>
            <a:off x="2574385" y="2808287"/>
            <a:ext cx="3333750" cy="771525"/>
          </a:xfrm>
          <a:prstGeom prst="rect">
            <a:avLst/>
          </a:prstGeom>
        </p:spPr>
      </p:pic>
    </p:spTree>
    <p:extLst>
      <p:ext uri="{BB962C8B-B14F-4D97-AF65-F5344CB8AC3E}">
        <p14:creationId xmlns:p14="http://schemas.microsoft.com/office/powerpoint/2010/main" val="7097225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7667" y="681466"/>
            <a:ext cx="3958112" cy="3023905"/>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Activity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485939" y="459091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4690405" y="681466"/>
            <a:ext cx="3548044" cy="3745114"/>
          </a:xfrm>
          <a:prstGeom prst="rect">
            <a:avLst/>
          </a:prstGeom>
        </p:spPr>
      </p:pic>
    </p:spTree>
    <p:extLst>
      <p:ext uri="{BB962C8B-B14F-4D97-AF65-F5344CB8AC3E}">
        <p14:creationId xmlns:p14="http://schemas.microsoft.com/office/powerpoint/2010/main" val="14503271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5393" y="40670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Component Diagram</a:t>
            </a:r>
            <a:r>
              <a:rPr lang="en-US" sz="1500" dirty="0">
                <a:latin typeface="Times New Roman" panose="02020603050405020304" pitchFamily="18" charset="0"/>
                <a:cs typeface="Times New Roman" panose="02020603050405020304" pitchFamily="18" charset="0"/>
              </a:rPr>
              <a:t>:</a:t>
            </a:r>
          </a:p>
          <a:p>
            <a:pPr algn="just">
              <a:lnSpc>
                <a:spcPct val="150000"/>
              </a:lnSpc>
            </a:pPr>
            <a:r>
              <a:rPr lang="en-US" sz="14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400" b="1" dirty="0">
                <a:latin typeface="Times New Roman" panose="02020603050405020304" pitchFamily="18" charset="0"/>
                <a:cs typeface="Times New Roman" panose="02020603050405020304" pitchFamily="18" charset="0"/>
              </a:rPr>
              <a:t>c</a:t>
            </a:r>
            <a:r>
              <a:rPr lang="en-US" sz="14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3043232" y="451537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Component diagram</a:t>
            </a:r>
          </a:p>
        </p:txBody>
      </p:sp>
      <p:pic>
        <p:nvPicPr>
          <p:cNvPr id="6" name="Picture 5"/>
          <p:cNvPicPr/>
          <p:nvPr/>
        </p:nvPicPr>
        <p:blipFill>
          <a:blip r:embed="rId2"/>
          <a:stretch>
            <a:fillRect/>
          </a:stretch>
        </p:blipFill>
        <p:spPr>
          <a:xfrm>
            <a:off x="1758797" y="2137947"/>
            <a:ext cx="5731510" cy="2082526"/>
          </a:xfrm>
          <a:prstGeom prst="rect">
            <a:avLst/>
          </a:prstGeom>
        </p:spPr>
      </p:pic>
    </p:spTree>
    <p:extLst>
      <p:ext uri="{BB962C8B-B14F-4D97-AF65-F5344CB8AC3E}">
        <p14:creationId xmlns:p14="http://schemas.microsoft.com/office/powerpoint/2010/main" val="18657838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55398" y="404489"/>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587829" y="1102648"/>
            <a:ext cx="7916092" cy="355481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ER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sz="105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7041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95745" y="432416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ER diagram</a:t>
            </a:r>
          </a:p>
        </p:txBody>
      </p:sp>
      <p:pic>
        <p:nvPicPr>
          <p:cNvPr id="5" name="Picture 4"/>
          <p:cNvPicPr/>
          <p:nvPr/>
        </p:nvPicPr>
        <p:blipFill>
          <a:blip r:embed="rId2"/>
          <a:stretch>
            <a:fillRect/>
          </a:stretch>
        </p:blipFill>
        <p:spPr>
          <a:xfrm>
            <a:off x="1778176" y="633741"/>
            <a:ext cx="5902960" cy="3476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004689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102" y="305575"/>
            <a:ext cx="7302843" cy="270073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DFD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3519775" y="4746364"/>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23097002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27121" y="447675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FigureLevel-1 diagram</a:t>
            </a:r>
          </a:p>
        </p:txBody>
      </p:sp>
      <p:pic>
        <p:nvPicPr>
          <p:cNvPr id="5" name="Picture 4"/>
          <p:cNvPicPr/>
          <p:nvPr/>
        </p:nvPicPr>
        <p:blipFill>
          <a:blip r:embed="rId2"/>
          <a:stretch>
            <a:fillRect/>
          </a:stretch>
        </p:blipFill>
        <p:spPr>
          <a:xfrm>
            <a:off x="1537621" y="538490"/>
            <a:ext cx="5731510" cy="3667125"/>
          </a:xfrm>
          <a:prstGeom prst="rect">
            <a:avLst/>
          </a:prstGeom>
        </p:spPr>
      </p:pic>
    </p:spTree>
    <p:extLst>
      <p:ext uri="{BB962C8B-B14F-4D97-AF65-F5344CB8AC3E}">
        <p14:creationId xmlns:p14="http://schemas.microsoft.com/office/powerpoint/2010/main" val="39416443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1307" y="4147107"/>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Figure:Level-2 diagram</a:t>
            </a:r>
          </a:p>
        </p:txBody>
      </p:sp>
      <p:pic>
        <p:nvPicPr>
          <p:cNvPr id="5" name="Picture 4"/>
          <p:cNvPicPr/>
          <p:nvPr/>
        </p:nvPicPr>
        <p:blipFill>
          <a:blip r:embed="rId2"/>
          <a:stretch>
            <a:fillRect/>
          </a:stretch>
        </p:blipFill>
        <p:spPr>
          <a:xfrm>
            <a:off x="1569610" y="576262"/>
            <a:ext cx="5731510" cy="3570845"/>
          </a:xfrm>
          <a:prstGeom prst="rect">
            <a:avLst/>
          </a:prstGeom>
        </p:spPr>
      </p:pic>
    </p:spTree>
    <p:extLst>
      <p:ext uri="{BB962C8B-B14F-4D97-AF65-F5344CB8AC3E}">
        <p14:creationId xmlns:p14="http://schemas.microsoft.com/office/powerpoint/2010/main" val="6514845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3" y="229230"/>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642343" y="1077558"/>
            <a:ext cx="7818486" cy="3584713"/>
          </a:xfrm>
          <a:prstGeom prst="rect">
            <a:avLst/>
          </a:prstGeom>
        </p:spPr>
        <p:txBody>
          <a:bodyPr spcFirstLastPara="1" wrap="square" lIns="91425" tIns="91425" rIns="91425" bIns="91425" anchor="t" anchorCtr="0">
            <a:noAutofit/>
          </a:bodyPr>
          <a:lstStyle/>
          <a:p>
            <a:pPr algn="just">
              <a:lnSpc>
                <a:spcPct val="150000"/>
              </a:lnSpc>
            </a:pPr>
            <a:endParaRPr lang="en-US" sz="1400" dirty="0" smtClean="0">
              <a:solidFill>
                <a:schemeClr val="tx1"/>
              </a:solidFill>
              <a:latin typeface="Times New Roman" panose="02020603050405020304" pitchFamily="18" charset="0"/>
              <a:cs typeface="Times New Roman" panose="02020603050405020304" pitchFamily="18" charset="0"/>
            </a:endParaRP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
        <p:nvSpPr>
          <p:cNvPr id="4" name="Rectangle 3"/>
          <p:cNvSpPr/>
          <p:nvPr/>
        </p:nvSpPr>
        <p:spPr>
          <a:xfrm>
            <a:off x="441436" y="851894"/>
            <a:ext cx="8154602" cy="4254819"/>
          </a:xfrm>
          <a:prstGeom prst="rect">
            <a:avLst/>
          </a:prstGeom>
        </p:spPr>
        <p:txBody>
          <a:bodyPr wrap="square">
            <a:spAutoFit/>
          </a:bodyPr>
          <a:lstStyle/>
          <a:p>
            <a:pPr marL="146050" indent="0" algn="just">
              <a:lnSpc>
                <a:spcPct val="150000"/>
              </a:lnSpc>
              <a:buNone/>
            </a:pPr>
            <a:r>
              <a:rPr lang="en-US" sz="1400" dirty="0">
                <a:latin typeface="Times New Roman" panose="02020603050405020304" pitchFamily="18" charset="0"/>
                <a:cs typeface="Times New Roman" panose="02020603050405020304" pitchFamily="18" charset="0"/>
              </a:rPr>
              <a:t>Despite extensive research in the prediction of Remaining Useful Life (RUL) for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several gaps persist that limit the full potential of predictive maintenance in aviation. Traditional approaches often rely on statistical or physics-based models, which may not efficiently capture the complex nonlinear relationships present in high-dimensional sensor and operational datasets. While recent studies have employed machine learning and deep learning models such as Random Forest, Gradient Boosting, and LSTM networks, many of these approaches focus primarily on predictive accuracy without addressing model interpretability. This lack of transparency creates challenges for maintenance engineers who need to understand the factors driving predictions to make informed decisions.</a:t>
            </a:r>
          </a:p>
          <a:p>
            <a:pPr marL="146050" indent="0" algn="just">
              <a:lnSpc>
                <a:spcPct val="150000"/>
              </a:lnSpc>
              <a:buNone/>
            </a:pPr>
            <a:r>
              <a:rPr lang="en-US" sz="1400" dirty="0">
                <a:latin typeface="Times New Roman" panose="02020603050405020304" pitchFamily="18" charset="0"/>
                <a:cs typeface="Times New Roman" panose="02020603050405020304" pitchFamily="18" charset="0"/>
              </a:rPr>
              <a:t>Another significant gap is the integration of RUL prediction models into practical, user-friendly platforms for real-time deployment. Most studies remain at a theoretical or experimental stage, with limited focus on web-based or application-level solutions that allow operators to upload datasets, generate predictions, and compare multiple models simultaneously. </a:t>
            </a:r>
          </a:p>
          <a:p>
            <a:pPr marL="146050" indent="0" algn="just">
              <a:lnSpc>
                <a:spcPct val="150000"/>
              </a:lnSpc>
              <a:buNone/>
            </a:pPr>
            <a:endParaRPr lang="en-US" sz="1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642343" y="1077558"/>
            <a:ext cx="7818486" cy="3584713"/>
          </a:xfrm>
          <a:prstGeom prst="rect">
            <a:avLst/>
          </a:prstGeom>
        </p:spPr>
        <p:txBody>
          <a:bodyPr spcFirstLastPara="1" wrap="square" lIns="91425" tIns="91425" rIns="91425" bIns="91425" anchor="t" anchorCtr="0">
            <a:noAutofit/>
          </a:bodyPr>
          <a:lstStyle/>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Additionally, health state categorization—translating continuous RUL predictions into actionable maintenance states such as NORMAL, WARNING, or CRITICAL—is often not systematically implemented, reducing the operational usability of these models.</a:t>
            </a:r>
          </a:p>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Furthermore, while various machine learning models have been explored, few studies conduct a comparative analysis emphasizing the performance of ensemble tree-based models like Extra Trees </a:t>
            </a:r>
            <a:r>
              <a:rPr lang="en-US" sz="1400" dirty="0" err="1">
                <a:solidFill>
                  <a:schemeClr val="tx1"/>
                </a:solidFill>
                <a:latin typeface="Times New Roman" panose="02020603050405020304" pitchFamily="18" charset="0"/>
                <a:cs typeface="Times New Roman" panose="02020603050405020304" pitchFamily="18" charset="0"/>
              </a:rPr>
              <a:t>Regressor</a:t>
            </a:r>
            <a:r>
              <a:rPr lang="en-US" sz="1400" dirty="0">
                <a:solidFill>
                  <a:schemeClr val="tx1"/>
                </a:solidFill>
                <a:latin typeface="Times New Roman" panose="02020603050405020304" pitchFamily="18" charset="0"/>
                <a:cs typeface="Times New Roman" panose="02020603050405020304" pitchFamily="18" charset="0"/>
              </a:rPr>
              <a:t> and neural architectures like Multi-Layer </a:t>
            </a:r>
            <a:r>
              <a:rPr lang="en-US" sz="1400" dirty="0" err="1">
                <a:solidFill>
                  <a:schemeClr val="tx1"/>
                </a:solidFill>
                <a:latin typeface="Times New Roman" panose="02020603050405020304" pitchFamily="18" charset="0"/>
                <a:cs typeface="Times New Roman" panose="02020603050405020304" pitchFamily="18" charset="0"/>
              </a:rPr>
              <a:t>Perceptrons</a:t>
            </a:r>
            <a:r>
              <a:rPr lang="en-US" sz="1400" dirty="0">
                <a:solidFill>
                  <a:schemeClr val="tx1"/>
                </a:solidFill>
                <a:latin typeface="Times New Roman" panose="02020603050405020304" pitchFamily="18" charset="0"/>
                <a:cs typeface="Times New Roman" panose="02020603050405020304" pitchFamily="18" charset="0"/>
              </a:rPr>
              <a:t> (MLP) in combination with explainable AI techniques. The integration of SHAP-based interpretability with high-performing models is still limited in the literature, leaving a gap in understanding feature contributions for critical maintenance decisions.</a:t>
            </a:r>
          </a:p>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This project addresses these gaps by combining high-accuracy predictive models (Extra Trees and MLP) with SHAP </a:t>
            </a:r>
            <a:r>
              <a:rPr lang="en-US" sz="1400" dirty="0" err="1">
                <a:solidFill>
                  <a:schemeClr val="tx1"/>
                </a:solidFill>
                <a:latin typeface="Times New Roman" panose="02020603050405020304" pitchFamily="18" charset="0"/>
                <a:cs typeface="Times New Roman" panose="02020603050405020304" pitchFamily="18" charset="0"/>
              </a:rPr>
              <a:t>explainability</a:t>
            </a:r>
            <a:r>
              <a:rPr lang="en-US" sz="1400" dirty="0">
                <a:solidFill>
                  <a:schemeClr val="tx1"/>
                </a:solidFill>
                <a:latin typeface="Times New Roman" panose="02020603050405020304" pitchFamily="18" charset="0"/>
                <a:cs typeface="Times New Roman" panose="02020603050405020304" pitchFamily="18" charset="0"/>
              </a:rPr>
              <a:t>, deploying the solution as a Flask-based application for real-time usability, and incorporating health state categorization. Thus, it contributes both technically and operationally to aviation predictive maintenance, bridging the gap between advanced RUL prediction and practical implementation.</a:t>
            </a:r>
          </a:p>
          <a:p>
            <a:pPr algn="just">
              <a:lnSpc>
                <a:spcPct val="150000"/>
              </a:lnSpc>
            </a:pPr>
            <a:endParaRPr lang="en-US" sz="1400" dirty="0">
              <a:solidFill>
                <a:schemeClr val="tx1"/>
              </a:solidFill>
              <a:latin typeface="Times New Roman" panose="02020603050405020304" pitchFamily="18" charset="0"/>
              <a:cs typeface="Times New Roman" panose="02020603050405020304" pitchFamily="18" charset="0"/>
            </a:endParaRP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extLst>
      <p:ext uri="{BB962C8B-B14F-4D97-AF65-F5344CB8AC3E}">
        <p14:creationId xmlns:p14="http://schemas.microsoft.com/office/powerpoint/2010/main" val="5700338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32</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154551"/>
            <a:ext cx="8272128" cy="1558760"/>
          </a:xfrm>
          <a:prstGeom prst="rect">
            <a:avLst/>
          </a:prstGeom>
        </p:spPr>
        <p:txBody>
          <a:bodyPr wrap="square">
            <a:spAutoFit/>
          </a:bodyPr>
          <a:lstStyle/>
          <a:p>
            <a:pPr algn="just">
              <a:lnSpc>
                <a:spcPct val="107000"/>
              </a:lnSpc>
              <a:spcBef>
                <a:spcPts val="1200"/>
              </a:spcBef>
              <a:spcAft>
                <a:spcPts val="800"/>
              </a:spcAft>
            </a:pPr>
            <a:endParaRPr lang="en-US" sz="14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1400" b="1" dirty="0" smtClean="0">
                <a:latin typeface="Times New Roman" panose="02020603050405020304" pitchFamily="18" charset="0"/>
                <a:cs typeface="Times New Roman" panose="02020603050405020304" pitchFamily="18" charset="0"/>
              </a:rPr>
              <a:t>System Modules</a:t>
            </a:r>
          </a:p>
          <a:p>
            <a:pPr algn="just"/>
            <a:endParaRPr lang="en-US" sz="1400" dirty="0" smtClean="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19927" y="1284176"/>
            <a:ext cx="8272128" cy="347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1.1 Data Upload and Acquisition Module</a:t>
            </a:r>
          </a:p>
          <a:p>
            <a:pPr lvl="0" algn="just" defTabSz="914400" eaLnBrk="0" fontAlgn="base" hangingPunct="0">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This module is accessible via the /upload route and supports CSV-based dataset uploads for clinical telemetry related to battery-powered medical devices. Key features include cycle index, discharge time, voltage thresholds, and charging durations. Pandas is used to parse the uploaded data, and the first 500 rows are displayed in a structured preview. This allows clinicians or researchers to verify the input format before proceeding with model evaluation or prediction. The same form can also be bypassed for real-time manual data entry through the /prediction route.</a:t>
            </a:r>
          </a:p>
          <a:p>
            <a:pPr lvl="0" algn="just" defTabSz="914400" eaLnBrk="0" fontAlgn="base" hangingPunct="0">
              <a:spcBef>
                <a:spcPct val="0"/>
              </a:spcBef>
              <a:spcAft>
                <a:spcPct val="0"/>
              </a:spcAft>
            </a:pPr>
            <a:endParaRPr lang="en-US" alt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1.2 Data Validation and Preprocessing Module</a:t>
            </a:r>
          </a:p>
          <a:p>
            <a:pPr lvl="0" algn="just" defTabSz="914400" eaLnBrk="0" fontAlgn="base" hangingPunct="0">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All user inputs (manual or from datasets) are checked for validity to ensure type correctness (e.g., float), non-null values, and safe ranges (e.g., voltage and time durations). This step is critical to preventing inference errors and maintaining prediction accuracy. Backend logic ensures robust parsing, and meaningful feedback is provided in case of user error via flash() messages.</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33</a:t>
            </a:fld>
            <a:endParaRPr lang="en-US" dirty="0"/>
          </a:p>
        </p:txBody>
      </p:sp>
      <p:sp>
        <p:nvSpPr>
          <p:cNvPr id="3" name="Rectangle 2"/>
          <p:cNvSpPr/>
          <p:nvPr/>
        </p:nvSpPr>
        <p:spPr>
          <a:xfrm>
            <a:off x="419927" y="545711"/>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629749"/>
            <a:ext cx="8261618" cy="1296830"/>
          </a:xfrm>
          <a:prstGeom prst="rect">
            <a:avLst/>
          </a:prstGeom>
        </p:spPr>
        <p:txBody>
          <a:bodyPr wrap="square">
            <a:spAutoFit/>
          </a:bodyPr>
          <a:lstStyle/>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 System:</a:t>
            </a:r>
            <a:endParaRPr lang="en-IN" sz="1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19927" y="1441858"/>
            <a:ext cx="8019880" cy="282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1.3 Model Selection and Evaluation Module</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At the /model route, users can choose from multiple machine learning models: Random Forest, Gradient Boosting, Decision Tree, KNN, MLP, LSTM, and SVR. Each model is pre-evaluated and associated with MSE and R² metrics that are dynamically displayed. This interface helps users select the most suitable model for medical device RUL prediction, enhancing transparency in performance comparison and fostering user trust.</a:t>
            </a:r>
          </a:p>
          <a:p>
            <a:pPr lvl="0" algn="just" defTabSz="914400" eaLnBrk="0" fontAlgn="base" hangingPunct="0">
              <a:spcBef>
                <a:spcPct val="0"/>
              </a:spcBef>
              <a:spcAft>
                <a:spcPct val="0"/>
              </a:spcAft>
            </a:pPr>
            <a:endParaRPr lang="en-US" alt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1.4 Prediction and Inference Module</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This module is the heart of the application, built into the /prediction route. After capturing eight telemetry parameters, the input is passed into a serialized Decision Tree model loaded using </a:t>
            </a:r>
            <a:r>
              <a:rPr lang="en-US" altLang="en-US" sz="1400" dirty="0" err="1">
                <a:latin typeface="Times New Roman" panose="02020603050405020304" pitchFamily="18" charset="0"/>
                <a:ea typeface="Times New Roman" panose="02020603050405020304" pitchFamily="18" charset="0"/>
                <a:cs typeface="Times New Roman" panose="02020603050405020304" pitchFamily="18" charset="0"/>
              </a:rPr>
              <a:t>Joblib</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The model returns a numerical prediction representing the device’s RUL. The prediction is processed and presented along with health classification (e.g., Healthy, Observation, Critical) on value_predict.html.</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086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2"/>
          <p:cNvSpPr/>
          <p:nvPr/>
        </p:nvSpPr>
        <p:spPr>
          <a:xfrm>
            <a:off x="419927" y="545711"/>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545711"/>
            <a:ext cx="8167025" cy="1296830"/>
          </a:xfrm>
          <a:prstGeom prst="rect">
            <a:avLst/>
          </a:prstGeom>
        </p:spPr>
        <p:txBody>
          <a:bodyPr wrap="square">
            <a:spAutoFit/>
          </a:bodyPr>
          <a:lstStyle/>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System:</a:t>
            </a:r>
            <a:endParaRPr lang="en-IN" sz="1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19926" y="1284176"/>
            <a:ext cx="8167025" cy="347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lvl="0" algn="just" defTabSz="914400"/>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1.5 Rule-Based Classification and Health Status Mapping</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To enhance usability and aid in diagnosis, the RUL prediction is mapped into actionable categories:</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 Healthy</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RUL &gt; 1000</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 Observation Needed</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500 &lt; RUL ≤ 1000</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 Critical</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RUL ≤ 500</a:t>
            </a:r>
          </a:p>
          <a:p>
            <a:pPr lvl="0" algn="just" defTabSz="914400"/>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This logic allows doctors or technicians to interpret raw prediction data in an intuitive, patient-focused manner.</a:t>
            </a:r>
          </a:p>
          <a:p>
            <a:pPr lvl="0" algn="just" defTabSz="914400"/>
            <a:endParaRPr lang="en-US" alt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1.6 Security and Session Management</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The application supports secure login and registration through /login and /register routes. Key security features include:</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CSRF protection</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via Flask-WTF</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Session handling</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for all sensitive routes</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Flash-based feedback</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for events like invalid login or duplicate email</a:t>
            </a:r>
            <a:b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b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Currently, passwords are stored in plaintext but future enhancements include password hashing with </a:t>
            </a:r>
            <a:r>
              <a:rPr lang="en-US" altLang="en-US" sz="1400" dirty="0" err="1">
                <a:latin typeface="Times New Roman" panose="02020603050405020304" pitchFamily="18" charset="0"/>
                <a:ea typeface="Times New Roman" panose="02020603050405020304" pitchFamily="18" charset="0"/>
                <a:cs typeface="Times New Roman" panose="02020603050405020304" pitchFamily="18" charset="0"/>
              </a:rPr>
              <a:t>bcrypt</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and token-based email verification.</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255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Rectangle 2"/>
          <p:cNvSpPr/>
          <p:nvPr/>
        </p:nvSpPr>
        <p:spPr>
          <a:xfrm>
            <a:off x="458325" y="542587"/>
            <a:ext cx="8355725" cy="799642"/>
          </a:xfrm>
          <a:prstGeom prst="rect">
            <a:avLst/>
          </a:prstGeom>
        </p:spPr>
        <p:txBody>
          <a:bodyPr wrap="square">
            <a:spAutoFit/>
          </a:bodyPr>
          <a:lstStyle/>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2</a:t>
            </a:r>
            <a:r>
              <a:rPr lang="en-US" sz="1400" b="1" dirty="0">
                <a:latin typeface="Times New Roman" panose="02020603050405020304" pitchFamily="18" charset="0"/>
                <a:ea typeface="Calibri" panose="020F0502020204030204" pitchFamily="34" charset="0"/>
                <a:cs typeface="Times New Roman" panose="02020603050405020304" pitchFamily="18" charset="0"/>
              </a:rPr>
              <a:t>. User</a:t>
            </a: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p:cNvSpPr>
            <a:spLocks noChangeArrowheads="1"/>
          </p:cNvSpPr>
          <p:nvPr/>
        </p:nvSpPr>
        <p:spPr bwMode="auto">
          <a:xfrm>
            <a:off x="458325" y="891952"/>
            <a:ext cx="8002503" cy="386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2.1 Registration</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The /register module checks for existing emails (case-insensitive) and validates password match before creating a new user entry in the MySQL user3 table.</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2.2 Login and Session Handling</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Users authenticate via the /login route. Sessions restrict access to private pages like /upload, /prediction, and /model, ensuring that only logged-in users can interact with the system securely.</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2.3 Dataset Upload and Manual Input</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Users can upload .csv files through the /upload interface or manually input data through /prediction for real-time predictions.</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36</a:t>
            </a:fld>
            <a:endParaRPr lang="en-US" dirty="0"/>
          </a:p>
        </p:txBody>
      </p:sp>
      <p:sp>
        <p:nvSpPr>
          <p:cNvPr id="4" name="Rectangle 1"/>
          <p:cNvSpPr>
            <a:spLocks noChangeArrowheads="1"/>
          </p:cNvSpPr>
          <p:nvPr/>
        </p:nvSpPr>
        <p:spPr bwMode="auto">
          <a:xfrm>
            <a:off x="472966" y="878289"/>
            <a:ext cx="8019393" cy="386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2.4 Model Evaluation Interface</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The /model route displays a dropdown of available models. When selected, the MSE and R² scores are displayed, helping the user choose the most accurate model.</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2.5 Prediction Output Visualization</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Upon submitting telemetry inputs, the predicted RUL is displayed along with its classification and interpretation in value_predict.html. This presentation style ensures clarity and supports real-time medical decision-making.</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2.6 Logout and Session Termination</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Secure logout ensures that session data is cleared, maintaining user privacy and access control.</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472966" y="569102"/>
            <a:ext cx="4572000" cy="799642"/>
          </a:xfrm>
          <a:prstGeom prst="rect">
            <a:avLst/>
          </a:prstGeom>
        </p:spPr>
        <p:txBody>
          <a:bodyPr>
            <a:spAutoFit/>
          </a:bodyPr>
          <a:lstStyle/>
          <a:p>
            <a:pPr algn="just">
              <a:lnSpc>
                <a:spcPct val="107000"/>
              </a:lnSpc>
              <a:spcBef>
                <a:spcPts val="1200"/>
              </a:spcBef>
              <a:spcAft>
                <a:spcPts val="800"/>
              </a:spcAft>
            </a:pPr>
            <a:r>
              <a:rPr lang="en-US" sz="1400" b="1" dirty="0">
                <a:latin typeface="Times New Roman" panose="02020603050405020304" pitchFamily="18" charset="0"/>
                <a:ea typeface="Calibri" panose="020F0502020204030204" pitchFamily="34" charset="0"/>
                <a:cs typeface="Times New Roman" panose="02020603050405020304" pitchFamily="18" charset="0"/>
              </a:rPr>
              <a:t>2. User:</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Data Analysis</a:t>
            </a:r>
            <a:endParaRPr lang="en-US" b="1" dirty="0">
              <a:latin typeface="Times New Roman" panose="02020603050405020304" pitchFamily="18" charset="0"/>
              <a:cs typeface="Times New Roman" panose="02020603050405020304" pitchFamily="18" charset="0"/>
            </a:endParaRP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356459" y="323344"/>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430923" y="678694"/>
            <a:ext cx="8271642"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The dataset used in this project captures sensor and operational telemetry data from multiple </a:t>
            </a:r>
            <a:r>
              <a:rPr lang="en-US" altLang="en-US" sz="1400" dirty="0" err="1">
                <a:latin typeface="Times New Roman" panose="02020603050405020304" pitchFamily="18" charset="0"/>
                <a:cs typeface="Times New Roman" panose="02020603050405020304" pitchFamily="18" charset="0"/>
              </a:rPr>
              <a:t>aeroengines</a:t>
            </a:r>
            <a:r>
              <a:rPr lang="en-US" altLang="en-US" sz="1400" dirty="0">
                <a:latin typeface="Times New Roman" panose="02020603050405020304" pitchFamily="18" charset="0"/>
                <a:cs typeface="Times New Roman" panose="02020603050405020304" pitchFamily="18" charset="0"/>
              </a:rPr>
              <a:t> and serves as the foundation for predicting the Remaining Useful Life (RUL</a:t>
            </a: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Columns and Features</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cycle – This column represents the operating cycle number and acts as a temporal index, enabling the models to track the progression of engine wear and degradation over time. It is essential for capturing the sequential nature of engine health.</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 to sensor_19 – These columns correspond to various engine sensors recording key operational metrics:</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 sensor_2, sensor_3, sensor_4 – Capture core engine parameters such as temperature, pressure, and flow rates within different subsystems. These readings reflect the primary operational state of the engine.</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sensor_7, sensor_8 – Represent auxiliary mechanical parameters, including vibrations and rotational speed, which are indicative of mechanical wear or misalignment.</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sensor_12, sensor_14, sensor_15, sensor_18, sensor_19 – Include additional operational measures that detect subtle anomalies or deviations from normal performance, which may signal early stages of engine degradation.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5230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30923" y="538788"/>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430923" y="894138"/>
            <a:ext cx="827164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Numerical Values: All sensor readings are represented as floating-point numbers, normalized between 0 and 1. This normalization ensures uniform scaling and improves the stability and convergence of machine learning algorithms.</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Temporal Sequencing: The dataset records sequential cycles for each engine, allowing predictive models to identify trends and patterns in engine health over time. Time-series analysis is crucial for accurate RUL estimation.</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High Dimensionality: With multiple sensor readings per cycle, the dataset provides a multidimensional view of engine performance, supporting robust and reliable model learning.</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Target Variable (RUL): Although not shown in the sample snippet, the dataset includes the Remaining Useful Life as the target variable. RUL represents the number of cycles remaining before the engine reaches a predefined failure or maintenance threshold, which is the primary prediction objective.</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40982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30923" y="538788"/>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430923" y="1109581"/>
            <a:ext cx="827164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Usage in Predictive Maintenance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Training: Sensor values serve as input features for machine learning models such as Extra Trees </a:t>
            </a:r>
            <a:r>
              <a:rPr lang="en-US" altLang="en-US" sz="1400" dirty="0" err="1">
                <a:latin typeface="Times New Roman" panose="02020603050405020304" pitchFamily="18" charset="0"/>
                <a:cs typeface="Times New Roman" panose="02020603050405020304" pitchFamily="18" charset="0"/>
              </a:rPr>
              <a:t>Regressor</a:t>
            </a:r>
            <a:r>
              <a:rPr lang="en-US" altLang="en-US" sz="1400" dirty="0">
                <a:latin typeface="Times New Roman" panose="02020603050405020304" pitchFamily="18" charset="0"/>
                <a:cs typeface="Times New Roman" panose="02020603050405020304" pitchFamily="18" charset="0"/>
              </a:rPr>
              <a:t>, MLP, Random Forest, and Gradient Boosting. Models learn to map these features to the RUL.</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Evaluation: The predictive performance is assessed using metrics like Mean Squared Error (MSE) and R² Score, ensuring models can accurately forecast engine life.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err="1">
                <a:latin typeface="Times New Roman" panose="02020603050405020304" pitchFamily="18" charset="0"/>
                <a:cs typeface="Times New Roman" panose="02020603050405020304" pitchFamily="18" charset="0"/>
              </a:rPr>
              <a:t>Explainability</a:t>
            </a:r>
            <a:r>
              <a:rPr lang="en-US" altLang="en-US" sz="1400" dirty="0">
                <a:latin typeface="Times New Roman" panose="02020603050405020304" pitchFamily="18" charset="0"/>
                <a:cs typeface="Times New Roman" panose="02020603050405020304" pitchFamily="18" charset="0"/>
              </a:rPr>
              <a:t>: Techniques like SHAP are applied to identify which sensors have the greatest impact on predictions, providing interpretable insights for maintenance engineers.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This dataset is crucial for developing a data-driven predictive maintenance framework that improves aviation safety, reduces operational costs, and enables proactive scheduling of maintenance activities.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9670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962322"/>
            <a:ext cx="5718232" cy="307777"/>
          </a:xfrm>
          <a:prstGeom prst="rect">
            <a:avLst/>
          </a:prstGeom>
        </p:spPr>
        <p:txBody>
          <a:bodyPr wrap="none">
            <a:spAutoFit/>
          </a:bodyPr>
          <a:lstStyle/>
          <a:p>
            <a:r>
              <a:rPr lang="en-US" sz="1400" dirty="0" smtClean="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sp>
        <p:nvSpPr>
          <p:cNvPr id="10" name="Rectangle 9"/>
          <p:cNvSpPr/>
          <p:nvPr/>
        </p:nvSpPr>
        <p:spPr>
          <a:xfrm>
            <a:off x="509691" y="2750706"/>
            <a:ext cx="6844747" cy="307777"/>
          </a:xfrm>
          <a:prstGeom prst="rect">
            <a:avLst/>
          </a:prstGeom>
        </p:spPr>
        <p:txBody>
          <a:bodyPr wrap="square">
            <a:spAutoFit/>
          </a:bodyPr>
          <a:lstStyle/>
          <a:p>
            <a:r>
              <a:rPr lang="en-US" sz="1400" dirty="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a:t>
            </a:r>
            <a:r>
              <a:rPr lang="en-US" sz="1400" dirty="0" smtClean="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Bottom </a:t>
            </a:r>
            <a:r>
              <a:rPr lang="en-US" sz="1400" dirty="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5 rows of the dataset here we see the how was the dataset values.</a:t>
            </a:r>
            <a:endParaRPr lang="en-IN" sz="1400" dirty="0"/>
          </a:p>
        </p:txBody>
      </p:sp>
      <p:pic>
        <p:nvPicPr>
          <p:cNvPr id="8" name="Picture 7"/>
          <p:cNvPicPr>
            <a:picLocks noChangeAspect="1"/>
          </p:cNvPicPr>
          <p:nvPr/>
        </p:nvPicPr>
        <p:blipFill>
          <a:blip r:embed="rId3"/>
          <a:stretch>
            <a:fillRect/>
          </a:stretch>
        </p:blipFill>
        <p:spPr>
          <a:xfrm>
            <a:off x="509691" y="1242354"/>
            <a:ext cx="8069583" cy="1508352"/>
          </a:xfrm>
          <a:prstGeom prst="rect">
            <a:avLst/>
          </a:prstGeom>
        </p:spPr>
      </p:pic>
      <p:pic>
        <p:nvPicPr>
          <p:cNvPr id="11" name="Picture 10"/>
          <p:cNvPicPr>
            <a:picLocks noChangeAspect="1"/>
          </p:cNvPicPr>
          <p:nvPr/>
        </p:nvPicPr>
        <p:blipFill>
          <a:blip r:embed="rId4"/>
          <a:stretch>
            <a:fillRect/>
          </a:stretch>
        </p:blipFill>
        <p:spPr>
          <a:xfrm>
            <a:off x="586501" y="3058483"/>
            <a:ext cx="7992773" cy="1687688"/>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pic>
        <p:nvPicPr>
          <p:cNvPr id="6" name="Picture 5"/>
          <p:cNvPicPr>
            <a:picLocks noChangeAspect="1"/>
          </p:cNvPicPr>
          <p:nvPr/>
        </p:nvPicPr>
        <p:blipFill>
          <a:blip r:embed="rId3"/>
          <a:stretch>
            <a:fillRect/>
          </a:stretch>
        </p:blipFill>
        <p:spPr>
          <a:xfrm>
            <a:off x="895220" y="825504"/>
            <a:ext cx="7328371" cy="3749651"/>
          </a:xfrm>
          <a:prstGeom prst="rect">
            <a:avLst/>
          </a:prstGeom>
        </p:spPr>
      </p:pic>
    </p:spTree>
    <p:extLst>
      <p:ext uri="{BB962C8B-B14F-4D97-AF65-F5344CB8AC3E}">
        <p14:creationId xmlns:p14="http://schemas.microsoft.com/office/powerpoint/2010/main" val="36566247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pic>
        <p:nvPicPr>
          <p:cNvPr id="7" name="Picture 6"/>
          <p:cNvPicPr>
            <a:picLocks noChangeAspect="1"/>
          </p:cNvPicPr>
          <p:nvPr/>
        </p:nvPicPr>
        <p:blipFill>
          <a:blip r:embed="rId3"/>
          <a:stretch>
            <a:fillRect/>
          </a:stretch>
        </p:blipFill>
        <p:spPr>
          <a:xfrm>
            <a:off x="962529" y="949935"/>
            <a:ext cx="7345145" cy="3647827"/>
          </a:xfrm>
          <a:prstGeom prst="rect">
            <a:avLst/>
          </a:prstGeom>
        </p:spPr>
      </p:pic>
    </p:spTree>
    <p:extLst>
      <p:ext uri="{BB962C8B-B14F-4D97-AF65-F5344CB8AC3E}">
        <p14:creationId xmlns:p14="http://schemas.microsoft.com/office/powerpoint/2010/main" val="30627104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a:off x="509691" y="1148670"/>
            <a:ext cx="8182364"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In the </a:t>
            </a:r>
            <a:r>
              <a:rPr lang="en-US" sz="1400" b="1" dirty="0">
                <a:latin typeface="Times New Roman" panose="02020603050405020304" pitchFamily="18" charset="0"/>
                <a:cs typeface="Times New Roman" panose="02020603050405020304" pitchFamily="18" charset="0"/>
              </a:rPr>
              <a:t>first </a:t>
            </a:r>
            <a:r>
              <a:rPr lang="en-US" sz="1400" b="1" dirty="0" err="1">
                <a:latin typeface="Times New Roman" panose="02020603050405020304" pitchFamily="18" charset="0"/>
                <a:cs typeface="Times New Roman" panose="02020603050405020304" pitchFamily="18" charset="0"/>
              </a:rPr>
              <a:t>heatmap</a:t>
            </a:r>
            <a:r>
              <a:rPr lang="en-US" sz="1400" b="1" dirty="0">
                <a:latin typeface="Times New Roman" panose="02020603050405020304" pitchFamily="18" charset="0"/>
                <a:cs typeface="Times New Roman" panose="02020603050405020304" pitchFamily="18" charset="0"/>
              </a:rPr>
              <a:t> (Columns 1–15)</a:t>
            </a:r>
            <a:r>
              <a:rPr lang="en-US" sz="1400" dirty="0">
                <a:latin typeface="Times New Roman" panose="02020603050405020304" pitchFamily="18" charset="0"/>
                <a:cs typeface="Times New Roman" panose="02020603050405020304" pitchFamily="18" charset="0"/>
              </a:rPr>
              <a:t>, we see correlations among the engine operational settings, cycle count, and the first 10 sensors. The diagonal shows perfect correlation (1.0) since each variable correlates fully with itself. Most operational settings such as </a:t>
            </a:r>
            <a:r>
              <a:rPr lang="en-US" sz="1400" i="1" dirty="0">
                <a:latin typeface="Times New Roman" panose="02020603050405020304" pitchFamily="18" charset="0"/>
                <a:cs typeface="Times New Roman" panose="02020603050405020304" pitchFamily="18" charset="0"/>
              </a:rPr>
              <a:t>op_setting_1</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op_setting_2</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op_setting_3</a:t>
            </a:r>
            <a:r>
              <a:rPr lang="en-US" sz="1400" dirty="0">
                <a:latin typeface="Times New Roman" panose="02020603050405020304" pitchFamily="18" charset="0"/>
                <a:cs typeface="Times New Roman" panose="02020603050405020304" pitchFamily="18" charset="0"/>
              </a:rPr>
              <a:t> show very low correlation with other variables, indicating limited direct influence. On the other hand, the cycle variable is strongly correlated (0.96) with sensors 1–10, suggesting that as cycles progress, sensor readings change in a systematic way. Similarly, sensors 1–10 are highly correlated with each other (0.92), which implies redundancy in their measurements and possible </a:t>
            </a:r>
            <a:r>
              <a:rPr lang="en-US" sz="1400" dirty="0" err="1">
                <a:latin typeface="Times New Roman" panose="02020603050405020304" pitchFamily="18" charset="0"/>
                <a:cs typeface="Times New Roman" panose="02020603050405020304" pitchFamily="18" charset="0"/>
              </a:rPr>
              <a:t>multicollinearity</a:t>
            </a:r>
            <a:r>
              <a:rPr lang="en-US" sz="1400" dirty="0">
                <a:latin typeface="Times New Roman" panose="02020603050405020304" pitchFamily="18" charset="0"/>
                <a:cs typeface="Times New Roman" panose="02020603050405020304" pitchFamily="18" charset="0"/>
              </a:rPr>
              <a:t> issues. This indicates that not all sensors may contribute independently to predictive modeling, and dimensionality reduction techniques such as PCA or feature selection could be beneficial.</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116705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a:off x="509691" y="930608"/>
            <a:ext cx="8182364" cy="39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In the </a:t>
            </a:r>
            <a:r>
              <a:rPr lang="en-US" sz="1400" b="1" dirty="0">
                <a:latin typeface="Times New Roman" panose="02020603050405020304" pitchFamily="18" charset="0"/>
                <a:cs typeface="Times New Roman" panose="02020603050405020304" pitchFamily="18" charset="0"/>
              </a:rPr>
              <a:t>second </a:t>
            </a:r>
            <a:r>
              <a:rPr lang="en-US" sz="1400" b="1" dirty="0" err="1">
                <a:latin typeface="Times New Roman" panose="02020603050405020304" pitchFamily="18" charset="0"/>
                <a:cs typeface="Times New Roman" panose="02020603050405020304" pitchFamily="18" charset="0"/>
              </a:rPr>
              <a:t>heatmap</a:t>
            </a:r>
            <a:r>
              <a:rPr lang="en-US" sz="1400" b="1" dirty="0">
                <a:latin typeface="Times New Roman" panose="02020603050405020304" pitchFamily="18" charset="0"/>
                <a:cs typeface="Times New Roman" panose="02020603050405020304" pitchFamily="18" charset="0"/>
              </a:rPr>
              <a:t> (Columns 16–30)</a:t>
            </a:r>
            <a:r>
              <a:rPr lang="en-US" sz="1400" dirty="0">
                <a:latin typeface="Times New Roman" panose="02020603050405020304" pitchFamily="18" charset="0"/>
                <a:cs typeface="Times New Roman" panose="02020603050405020304" pitchFamily="18" charset="0"/>
              </a:rPr>
              <a:t>, sensors 11–21 are analyzed along with RUL. Here, we again notice that sensors 11–21 are highly correlated with each other (0.92 across the board). Interestingly, all these sensors show a strong negative correlation with RUL (around –0.96). This means as the sensor values increase with engine degradation, the RUL consistently decreases, which is expected in predictive maintenance. The uniformity of correlation values indicates that these sensors capture similar degradation trends, making them reliable predictors of RUL.</a:t>
            </a:r>
          </a:p>
          <a:p>
            <a:pPr algn="just">
              <a:lnSpc>
                <a:spcPct val="150000"/>
              </a:lnSpc>
            </a:pPr>
            <a:r>
              <a:rPr lang="en-US" sz="1400" dirty="0">
                <a:latin typeface="Times New Roman" panose="02020603050405020304" pitchFamily="18" charset="0"/>
                <a:cs typeface="Times New Roman" panose="02020603050405020304" pitchFamily="18" charset="0"/>
              </a:rPr>
              <a:t>Overall, the correlation analysis highlights two key insights: (1) strong interdependencies among sensors, which may require feature reduction to avoid redundancy, and (2) a strong negative correlation of multiple sensors with RUL, confirming their effectiveness in predicting equipment failure. These findings provide a solid foundation for selecting key features to build robust prognostic models.</a:t>
            </a:r>
          </a:p>
          <a:p>
            <a:pPr lvl="0" algn="just"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135088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442158" y="1074448"/>
            <a:ext cx="832346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400" dirty="0">
                <a:latin typeface="Times New Roman" panose="02020603050405020304" pitchFamily="18" charset="0"/>
                <a:cs typeface="Times New Roman" panose="02020603050405020304" pitchFamily="18" charset="0"/>
              </a:rPr>
              <a:t>1.1 Data Upload and Acquisition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Accessible via the /upload route, this module allows users to upload CSV datasets containing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sensor and operational data. Key features include cycle numbers, temperature, pressure, vibration, and rotational speed readings. The uploaded data is parsed using Pandas, and the first 500 rows are displayed in a structured preview. This enables engineers or researchers to verify the dataset format before proceeding with model evaluation or prediction. Real-time manual data entry is also supported via the /prediction route for instant RUL prediction.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1.2 Data Validation and Preprocessing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All inputs, whether uploaded or manually entered, are validated for correct data type (float), non-null values, and operationally safe ranges (e.g., temperature, RPM). This ensures robust parsing and prevents inference errors. Feedback is provided through alerts in the front-end if invalid data is detected, maintaining prediction accuracy and reliability.</a:t>
            </a:r>
          </a:p>
          <a:p>
            <a:pPr algn="just"/>
            <a:endParaRPr 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4496" y="1210118"/>
            <a:ext cx="8177049" cy="3323987"/>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1.3 Model Selection and Evaluation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/model route enables users to select from multiple pre-trained machine learning models: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 Each model’s performance metrics (MSE and R² Score) are displayed dynamically to help users select the most suitable model for RUL prediction.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are highlighted for their superior predictive performance.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1.4 Prediction and Inference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At the /prediction route, user inputs across multiple telemetry parameters are processed by the selected serialized model (loaded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The model outputs a numerical RUL prediction, which is then mapped to health categories: NORMAL, WARNING, and CRITICAL. The prediction, along with its health interpretation and maintenance suggestion, is displayed on prediction.html.</a:t>
            </a:r>
          </a:p>
          <a:p>
            <a:pPr algn="just"/>
            <a:endParaRPr lang="en-US" sz="1400" dirty="0">
              <a:latin typeface="Times New Roman" panose="02020603050405020304" pitchFamily="18" charset="0"/>
              <a:cs typeface="Times New Roman" panose="02020603050405020304" pitchFamily="18" charset="0"/>
            </a:endParaRPr>
          </a:p>
          <a:p>
            <a:pPr algn="just"/>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04777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48</a:t>
            </a:fld>
            <a:endParaRPr lang="en-US" dirty="0"/>
          </a:p>
        </p:txBody>
      </p:sp>
      <p:sp>
        <p:nvSpPr>
          <p:cNvPr id="5" name="Rectangle 4"/>
          <p:cNvSpPr/>
          <p:nvPr/>
        </p:nvSpPr>
        <p:spPr>
          <a:xfrm>
            <a:off x="499242" y="882607"/>
            <a:ext cx="8092966" cy="397031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1.5 Rule-Based Classification and Maintenance </a:t>
            </a:r>
            <a:r>
              <a:rPr lang="en-US" sz="1400" dirty="0" smtClean="0">
                <a:latin typeface="Times New Roman" panose="02020603050405020304" pitchFamily="18" charset="0"/>
                <a:cs typeface="Times New Roman" panose="02020603050405020304" pitchFamily="18" charset="0"/>
              </a:rPr>
              <a:t>Recommendations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To support decision-making, RUL predictions are categorized as follows: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NORMAL: Engine is healthy and continues operation.</a:t>
            </a:r>
          </a:p>
          <a:p>
            <a:pPr algn="just"/>
            <a:r>
              <a:rPr lang="en-US" sz="1400" dirty="0">
                <a:latin typeface="Times New Roman" panose="02020603050405020304" pitchFamily="18" charset="0"/>
                <a:cs typeface="Times New Roman" panose="02020603050405020304" pitchFamily="18" charset="0"/>
              </a:rPr>
              <a:t>WARNING: Schedule maintenance soon; increase monitoring.</a:t>
            </a:r>
          </a:p>
          <a:p>
            <a:pPr algn="just"/>
            <a:r>
              <a:rPr lang="en-US" sz="1400" dirty="0">
                <a:latin typeface="Times New Roman" panose="02020603050405020304" pitchFamily="18" charset="0"/>
                <a:cs typeface="Times New Roman" panose="02020603050405020304" pitchFamily="18" charset="0"/>
              </a:rPr>
              <a:t>CRITICAL: Immediate inspection and maintenance required.</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These categories allow operators to quickly interpret predictions and take actionable steps.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1.6 Security and Session Management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Secure login and registration are implemented via /login and /register. Features include:</a:t>
            </a:r>
          </a:p>
          <a:p>
            <a:pPr algn="just"/>
            <a:r>
              <a:rPr lang="en-US" sz="1400" dirty="0">
                <a:latin typeface="Times New Roman" panose="02020603050405020304" pitchFamily="18" charset="0"/>
                <a:cs typeface="Times New Roman" panose="02020603050405020304" pitchFamily="18" charset="0"/>
              </a:rPr>
              <a:t>CSRF protection using Flask-WTF</a:t>
            </a:r>
          </a:p>
          <a:p>
            <a:pPr algn="just"/>
            <a:r>
              <a:rPr lang="en-US" sz="1400" dirty="0">
                <a:latin typeface="Times New Roman" panose="02020603050405020304" pitchFamily="18" charset="0"/>
                <a:cs typeface="Times New Roman" panose="02020603050405020304" pitchFamily="18" charset="0"/>
              </a:rPr>
              <a:t>Session handling for sensitive routes (/upload, /model, /prediction)</a:t>
            </a:r>
          </a:p>
          <a:p>
            <a:pPr algn="just"/>
            <a:r>
              <a:rPr lang="en-US" sz="1400" dirty="0">
                <a:latin typeface="Times New Roman" panose="02020603050405020304" pitchFamily="18" charset="0"/>
                <a:cs typeface="Times New Roman" panose="02020603050405020304" pitchFamily="18" charset="0"/>
              </a:rPr>
              <a:t>Flash-based feedback for invalid login attempts or duplicate registrations</a:t>
            </a:r>
          </a:p>
          <a:p>
            <a:pPr algn="just"/>
            <a:r>
              <a:rPr lang="en-US" sz="1400" dirty="0">
                <a:latin typeface="Times New Roman" panose="02020603050405020304" pitchFamily="18" charset="0"/>
                <a:cs typeface="Times New Roman" panose="02020603050405020304" pitchFamily="18" charset="0"/>
              </a:rPr>
              <a:t>Future plans: password hashing with </a:t>
            </a:r>
            <a:r>
              <a:rPr lang="en-US" sz="1400" dirty="0" err="1">
                <a:latin typeface="Times New Roman" panose="02020603050405020304" pitchFamily="18" charset="0"/>
                <a:cs typeface="Times New Roman" panose="02020603050405020304" pitchFamily="18" charset="0"/>
              </a:rPr>
              <a:t>bcrypt</a:t>
            </a:r>
            <a:r>
              <a:rPr lang="en-US" sz="1400" dirty="0">
                <a:latin typeface="Times New Roman" panose="02020603050405020304" pitchFamily="18" charset="0"/>
                <a:cs typeface="Times New Roman" panose="02020603050405020304" pitchFamily="18" charset="0"/>
              </a:rPr>
              <a:t> and token-based verification</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15626558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49</a:t>
            </a:fld>
            <a:endParaRPr lang="en-US" dirty="0"/>
          </a:p>
        </p:txBody>
      </p:sp>
      <p:sp>
        <p:nvSpPr>
          <p:cNvPr id="5" name="Rectangle 4"/>
          <p:cNvSpPr/>
          <p:nvPr/>
        </p:nvSpPr>
        <p:spPr>
          <a:xfrm>
            <a:off x="583325" y="1103324"/>
            <a:ext cx="8092966" cy="3323987"/>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 User Management and Access Control</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User Management and Access Control module ensures secure, role-based, and seamless interaction with the RUL prediction system. It manages user registration, authentication, session handling, and access to private features, while maintaining data integrity and privacy.</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2.1 Registration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/register route allows new users to create an account by providing their name, email, and password. The system performs email uniqueness checks (case-insensitive) to prevent duplicate accounts and validates that the password and confirm password fields match. Once validated, the user’s credentials are stored in the MySQL users table. Future enhancements may include email verification, password hashing with </a:t>
            </a:r>
            <a:r>
              <a:rPr lang="en-US" sz="1400" dirty="0" err="1">
                <a:latin typeface="Times New Roman" panose="02020603050405020304" pitchFamily="18" charset="0"/>
                <a:cs typeface="Times New Roman" panose="02020603050405020304" pitchFamily="18" charset="0"/>
              </a:rPr>
              <a:t>bcrypt</a:t>
            </a:r>
            <a:r>
              <a:rPr lang="en-US" sz="1400" dirty="0">
                <a:latin typeface="Times New Roman" panose="02020603050405020304" pitchFamily="18" charset="0"/>
                <a:cs typeface="Times New Roman" panose="02020603050405020304" pitchFamily="18" charset="0"/>
              </a:rPr>
              <a:t>, and optional role-based access (e.g., admin, engineer) to control feature permissions.</a:t>
            </a:r>
          </a:p>
          <a:p>
            <a:pPr algn="just"/>
            <a:endParaRPr lang="en-US" sz="1400" dirty="0">
              <a:latin typeface="Times New Roman" panose="02020603050405020304" pitchFamily="18" charset="0"/>
              <a:cs typeface="Times New Roman" panose="02020603050405020304" pitchFamily="18" charset="0"/>
            </a:endParaRP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175517442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50</a:t>
            </a:fld>
            <a:endParaRPr lang="en-US" dirty="0"/>
          </a:p>
        </p:txBody>
      </p:sp>
      <p:sp>
        <p:nvSpPr>
          <p:cNvPr id="5" name="Rectangle 4"/>
          <p:cNvSpPr/>
          <p:nvPr/>
        </p:nvSpPr>
        <p:spPr>
          <a:xfrm>
            <a:off x="583325" y="1103324"/>
            <a:ext cx="8092966"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2.2 Login and Session Handling</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Through the /login route, registered users can authenticate using their credentials. Successful login initiates a secure session, allowing access to restricted routes such as /upload, /model, and /prediction. Sessions expire upon logout or after a defined period of inactivity, preventing unauthorized access. Flash messages notify users of failed login attempts, incorrect passwords, or unregistered email IDs, ensuring user-friendly feedback.</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2.3 Dataset Upload and Manual Input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Authorized users can upload CSV datasets through the /upload interface or manually enter sensor readings at /prediction. Uploaded datasets are parsed, validated, and previewed to ensure correct formatting. Real-time manual input enables immediate RUL prediction for individual engines, supporting urgent maintenance decisions.</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16888624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5" name="Rectangle 4"/>
          <p:cNvSpPr/>
          <p:nvPr/>
        </p:nvSpPr>
        <p:spPr>
          <a:xfrm>
            <a:off x="583325" y="1103324"/>
            <a:ext cx="8092966"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2.4 Model Evaluation Interface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/model route presents all available machine learning models, 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 Users can view dynamically updated performance metrics (MSE and R²) for each model. This interface allows comparison across models and selection of the most suitable algorithm based on predictive accuracy and reliability.</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2.5 Prediction Output Visualization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Predicted RUL values are displayed alongside engine health classification—NORMAL, WARNING, CRITICAL—and actionable maintenance recommendations on prediction.html. The system provides intuitive color-coded indicators and textual guidance to help users quickly interpret the results and make informed operational decisions.</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408332108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52</a:t>
            </a:fld>
            <a:endParaRPr lang="en-US" dirty="0"/>
          </a:p>
        </p:txBody>
      </p:sp>
      <p:sp>
        <p:nvSpPr>
          <p:cNvPr id="5" name="Rectangle 4"/>
          <p:cNvSpPr/>
          <p:nvPr/>
        </p:nvSpPr>
        <p:spPr>
          <a:xfrm>
            <a:off x="583325" y="1103324"/>
            <a:ext cx="7982606" cy="1923604"/>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2.6 Logout and Session Termination</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Secure logout functionality ensures that all session data is cleared, preventing unauthorized reuse of sensitive session credentials. This maintains user privacy and system security. Future upgrades may include multi-factor authentication and audit logging of login activities for enhanced security.</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42692899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435871" y="1004636"/>
            <a:ext cx="8049234" cy="2528257"/>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Random Forest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is an ensemble learning algorithm that combines the predictions of multiple decision trees to improve accuracy and control overfitting. It works by constructing numerous decision trees during training time and averaging their outputs for regression tasks. Each tree is trained on a different bootstrap sample (randomly drawn subset) of the data, and only a random subset of features is considered when splitting nodes. This introduces randomness and diversity among the trees, making the ensemble more robust. Random Forest handles non-linear relationships well and is resistant to noise and outliers. It can estimate feature importance and works effectively without much </a:t>
            </a:r>
            <a:r>
              <a:rPr lang="en-US" sz="1400" dirty="0" err="1">
                <a:latin typeface="Times New Roman" panose="02020603050405020304" pitchFamily="18" charset="0"/>
                <a:cs typeface="Times New Roman" panose="02020603050405020304" pitchFamily="18" charset="0"/>
              </a:rPr>
              <a:t>hyperparameter</a:t>
            </a:r>
            <a:r>
              <a:rPr lang="en-US" sz="1400" dirty="0">
                <a:latin typeface="Times New Roman" panose="02020603050405020304" pitchFamily="18" charset="0"/>
                <a:cs typeface="Times New Roman" panose="02020603050405020304" pitchFamily="18" charset="0"/>
              </a:rPr>
              <a:t> tuning. One of its key strengths is its ability to generalize well on unseen data, especially when compared to individual decision trees which often </a:t>
            </a:r>
            <a:r>
              <a:rPr lang="en-US" sz="1400" dirty="0" err="1">
                <a:latin typeface="Times New Roman" panose="02020603050405020304" pitchFamily="18" charset="0"/>
                <a:cs typeface="Times New Roman" panose="02020603050405020304" pitchFamily="18" charset="0"/>
              </a:rPr>
              <a:t>overfit</a:t>
            </a:r>
            <a:r>
              <a:rPr lang="en-US" sz="1400" dirty="0">
                <a:latin typeface="Times New Roman" panose="02020603050405020304" pitchFamily="18" charset="0"/>
                <a:cs typeface="Times New Roman" panose="02020603050405020304" pitchFamily="18" charset="0"/>
              </a:rPr>
              <a:t>. However, it may become computationally expensive with a large number of trees or features. Overall, Random Forest is a powerful and widely-used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for a broad range of structured data problems.</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54</a:t>
            </a:fld>
            <a:endParaRPr lang="en-US" dirty="0"/>
          </a:p>
        </p:txBody>
      </p:sp>
      <p:sp>
        <p:nvSpPr>
          <p:cNvPr id="6" name="TextBox 5"/>
          <p:cNvSpPr txBox="1"/>
          <p:nvPr/>
        </p:nvSpPr>
        <p:spPr>
          <a:xfrm>
            <a:off x="788342" y="3848067"/>
            <a:ext cx="2698595" cy="369332"/>
          </a:xfrm>
          <a:prstGeom prst="rect">
            <a:avLst/>
          </a:prstGeom>
          <a:noFill/>
        </p:spPr>
        <p:txBody>
          <a:bodyPr wrap="square" rtlCol="0">
            <a:spAutoFit/>
          </a:bodyPr>
          <a:lstStyle/>
          <a:p>
            <a:r>
              <a:rPr lang="en-US" dirty="0" smtClean="0"/>
              <a:t>PERFORMANCE Report</a:t>
            </a:r>
            <a:endParaRPr lang="en-US" dirty="0"/>
          </a:p>
        </p:txBody>
      </p:sp>
      <p:sp>
        <p:nvSpPr>
          <p:cNvPr id="7" name="TextBox 6"/>
          <p:cNvSpPr txBox="1"/>
          <p:nvPr/>
        </p:nvSpPr>
        <p:spPr>
          <a:xfrm>
            <a:off x="5669433" y="4113195"/>
            <a:ext cx="3189248" cy="370890"/>
          </a:xfrm>
          <a:prstGeom prst="rect">
            <a:avLst/>
          </a:prstGeom>
          <a:noFill/>
        </p:spPr>
        <p:txBody>
          <a:bodyPr wrap="square" rtlCol="0">
            <a:spAutoFit/>
          </a:bodyPr>
          <a:lstStyle/>
          <a:p>
            <a:r>
              <a:rPr lang="en-US" dirty="0" smtClean="0"/>
              <a:t>CODE</a:t>
            </a:r>
            <a:endParaRPr lang="en-US" dirty="0"/>
          </a:p>
        </p:txBody>
      </p:sp>
      <p:pic>
        <p:nvPicPr>
          <p:cNvPr id="10" name="Picture 9"/>
          <p:cNvPicPr/>
          <p:nvPr/>
        </p:nvPicPr>
        <p:blipFill>
          <a:blip r:embed="rId2"/>
          <a:stretch>
            <a:fillRect/>
          </a:stretch>
        </p:blipFill>
        <p:spPr>
          <a:xfrm>
            <a:off x="4390697" y="473673"/>
            <a:ext cx="4133193" cy="3462707"/>
          </a:xfrm>
          <a:prstGeom prst="rect">
            <a:avLst/>
          </a:prstGeom>
        </p:spPr>
      </p:pic>
      <p:pic>
        <p:nvPicPr>
          <p:cNvPr id="11" name="Picture 10"/>
          <p:cNvPicPr/>
          <p:nvPr/>
        </p:nvPicPr>
        <p:blipFill>
          <a:blip r:embed="rId3"/>
          <a:stretch>
            <a:fillRect/>
          </a:stretch>
        </p:blipFill>
        <p:spPr>
          <a:xfrm>
            <a:off x="1000266" y="1673247"/>
            <a:ext cx="2619375" cy="1944414"/>
          </a:xfrm>
          <a:prstGeom prst="rect">
            <a:avLst/>
          </a:prstGeom>
        </p:spPr>
      </p:pic>
    </p:spTree>
    <p:extLst>
      <p:ext uri="{BB962C8B-B14F-4D97-AF65-F5344CB8AC3E}">
        <p14:creationId xmlns:p14="http://schemas.microsoft.com/office/powerpoint/2010/main" val="9101992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883" y="211464"/>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55</a:t>
            </a:fld>
            <a:endParaRPr lang="en-US" dirty="0"/>
          </a:p>
        </p:txBody>
      </p:sp>
      <p:sp>
        <p:nvSpPr>
          <p:cNvPr id="5" name="Rectangle 1"/>
          <p:cNvSpPr>
            <a:spLocks noChangeArrowheads="1"/>
          </p:cNvSpPr>
          <p:nvPr/>
        </p:nvSpPr>
        <p:spPr bwMode="auto">
          <a:xfrm>
            <a:off x="590455" y="998523"/>
            <a:ext cx="8049047"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Random Forest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Random Forest is a powerful ensemble technique that builds multiple decision trees and averages their outputs for regression tasks. It is well-suited for predicting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Remaining Useful Life (RUL), as it handles high-dimensional and non-linear sensor data like temperature, pressure, and vibration. Each tree is trained on bootstrapped samples, and splits use random subsets of features, improving diversity, reducing overfitting, and enhancing robustness against noisy readings. In this project, Random Forest achieved an MSE of 11.1807 and an R² of 0.9985, showing excellent accuracy. A key advantage is feature importance, which highlights the most critical sensors influencing predictions. The model was deployed with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and Flask, providing fast, interpretable real-time predictions. Its balance of accuracy, speed, and interpretability makes it ideal for aviation predictive maintenance.</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8967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56</a:t>
            </a:fld>
            <a:endParaRPr lang="en-US" dirty="0"/>
          </a:p>
        </p:txBody>
      </p:sp>
      <p:sp>
        <p:nvSpPr>
          <p:cNvPr id="3" name="Rectangle 2"/>
          <p:cNvSpPr/>
          <p:nvPr/>
        </p:nvSpPr>
        <p:spPr>
          <a:xfrm>
            <a:off x="536252" y="521170"/>
            <a:ext cx="8092742" cy="3754874"/>
          </a:xfrm>
          <a:prstGeom prst="rect">
            <a:avLst/>
          </a:prstGeom>
        </p:spPr>
        <p:txBody>
          <a:bodyPr wrap="square">
            <a:spAutoFit/>
          </a:bodyPr>
          <a:lstStyle/>
          <a:p>
            <a:pPr algn="just">
              <a:lnSpc>
                <a:spcPct val="200000"/>
              </a:lnSpc>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Decision Tree :</a:t>
            </a:r>
          </a:p>
          <a:p>
            <a:pPr algn="just">
              <a:lnSpc>
                <a:spcPct val="150000"/>
              </a:lnSpc>
            </a:pPr>
            <a:r>
              <a:rPr lang="en-US" sz="1400" dirty="0" smtClean="0">
                <a:latin typeface="Times New Roman" panose="02020603050405020304" pitchFamily="18" charset="0"/>
                <a:cs typeface="Times New Roman" panose="02020603050405020304" pitchFamily="18" charset="0"/>
              </a:rPr>
              <a:t>The Decision Tree </a:t>
            </a:r>
            <a:r>
              <a:rPr lang="en-US" sz="1400" dirty="0" err="1" smtClean="0">
                <a:latin typeface="Times New Roman" panose="02020603050405020304" pitchFamily="18" charset="0"/>
                <a:cs typeface="Times New Roman" panose="02020603050405020304" pitchFamily="18" charset="0"/>
              </a:rPr>
              <a:t>Regressor</a:t>
            </a:r>
            <a:r>
              <a:rPr lang="en-US" sz="1400" dirty="0" smtClean="0">
                <a:latin typeface="Times New Roman" panose="02020603050405020304" pitchFamily="18" charset="0"/>
                <a:cs typeface="Times New Roman" panose="02020603050405020304" pitchFamily="18" charset="0"/>
              </a:rPr>
              <a:t> is a non-parametric supervised learning model used for predicting continuous target values. It works by recursively splitting the dataset into subsets based on the feature that results in the least prediction error, commonly measured using mean squared error (MSE). At each node, the algorithm finds the optimal threshold to split the data such that the target values within each child node are as homogeneous as possible. This process continues until a stopping criterion is met (e.g., max depth, min samples per leaf). Decision Trees are easy to interpret and visualize, making them useful for understanding relationships in data. However, they are prone to overfitting, especially when deep trees are grown without pruning. While efficient on small datasets, their performance may degrade with noisy data or irrelevant features. Despite this, Decision Tree </a:t>
            </a:r>
            <a:r>
              <a:rPr lang="en-US" sz="1400" dirty="0" err="1" smtClean="0">
                <a:latin typeface="Times New Roman" panose="02020603050405020304" pitchFamily="18" charset="0"/>
                <a:cs typeface="Times New Roman" panose="02020603050405020304" pitchFamily="18" charset="0"/>
              </a:rPr>
              <a:t>Regressors</a:t>
            </a:r>
            <a:r>
              <a:rPr lang="en-US" sz="1400" dirty="0" smtClean="0">
                <a:latin typeface="Times New Roman" panose="02020603050405020304" pitchFamily="18" charset="0"/>
                <a:cs typeface="Times New Roman" panose="02020603050405020304" pitchFamily="18" charset="0"/>
              </a:rPr>
              <a:t> are foundational models in machine learning and are often used as base learners in ensemble methods like Random Forest and Gradient Boosting.</a:t>
            </a:r>
            <a:endParaRPr lang="en-US" sz="1400" b="1" dirty="0" smtClean="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238032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57</a:t>
            </a:fld>
            <a:endParaRPr lang="en-US" dirty="0"/>
          </a:p>
        </p:txBody>
      </p:sp>
      <p:sp>
        <p:nvSpPr>
          <p:cNvPr id="6" name="TextBox 5"/>
          <p:cNvSpPr txBox="1"/>
          <p:nvPr/>
        </p:nvSpPr>
        <p:spPr>
          <a:xfrm>
            <a:off x="913007" y="3613214"/>
            <a:ext cx="2698595" cy="646331"/>
          </a:xfrm>
          <a:prstGeom prst="rect">
            <a:avLst/>
          </a:prstGeom>
          <a:noFill/>
        </p:spPr>
        <p:txBody>
          <a:bodyPr wrap="square" rtlCol="0">
            <a:spAutoFit/>
          </a:bodyPr>
          <a:lstStyle/>
          <a:p>
            <a:r>
              <a:rPr lang="en-US" dirty="0"/>
              <a:t>PERFORMANCE Report</a:t>
            </a:r>
          </a:p>
          <a:p>
            <a:endParaRPr lang="en-US" dirty="0"/>
          </a:p>
        </p:txBody>
      </p:sp>
      <p:sp>
        <p:nvSpPr>
          <p:cNvPr id="7" name="TextBox 6"/>
          <p:cNvSpPr txBox="1"/>
          <p:nvPr/>
        </p:nvSpPr>
        <p:spPr>
          <a:xfrm>
            <a:off x="5207620" y="3936380"/>
            <a:ext cx="3189248" cy="646331"/>
          </a:xfrm>
          <a:prstGeom prst="rect">
            <a:avLst/>
          </a:prstGeom>
          <a:noFill/>
        </p:spPr>
        <p:txBody>
          <a:bodyPr wrap="square" rtlCol="0">
            <a:spAutoFit/>
          </a:bodyPr>
          <a:lstStyle/>
          <a:p>
            <a:r>
              <a:rPr lang="en-US" dirty="0" smtClean="0"/>
              <a:t>CODE</a:t>
            </a:r>
          </a:p>
          <a:p>
            <a:endParaRPr lang="en-US" dirty="0"/>
          </a:p>
        </p:txBody>
      </p:sp>
      <p:pic>
        <p:nvPicPr>
          <p:cNvPr id="5" name="Picture 4"/>
          <p:cNvPicPr>
            <a:picLocks noChangeAspect="1"/>
          </p:cNvPicPr>
          <p:nvPr/>
        </p:nvPicPr>
        <p:blipFill>
          <a:blip r:embed="rId2"/>
          <a:stretch>
            <a:fillRect/>
          </a:stretch>
        </p:blipFill>
        <p:spPr>
          <a:xfrm>
            <a:off x="4148254" y="833599"/>
            <a:ext cx="4020111" cy="3024591"/>
          </a:xfrm>
          <a:prstGeom prst="rect">
            <a:avLst/>
          </a:prstGeom>
        </p:spPr>
      </p:pic>
      <p:pic>
        <p:nvPicPr>
          <p:cNvPr id="8" name="Picture 7"/>
          <p:cNvPicPr>
            <a:picLocks noChangeAspect="1"/>
          </p:cNvPicPr>
          <p:nvPr/>
        </p:nvPicPr>
        <p:blipFill>
          <a:blip r:embed="rId3"/>
          <a:stretch>
            <a:fillRect/>
          </a:stretch>
        </p:blipFill>
        <p:spPr>
          <a:xfrm>
            <a:off x="1227177" y="2021999"/>
            <a:ext cx="2000529" cy="1372842"/>
          </a:xfrm>
          <a:prstGeom prst="rect">
            <a:avLst/>
          </a:prstGeom>
        </p:spPr>
      </p:pic>
    </p:spTree>
    <p:extLst>
      <p:ext uri="{BB962C8B-B14F-4D97-AF65-F5344CB8AC3E}">
        <p14:creationId xmlns:p14="http://schemas.microsoft.com/office/powerpoint/2010/main" val="4160992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788" y="252257"/>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58</a:t>
            </a:fld>
            <a:endParaRPr lang="en-US" dirty="0"/>
          </a:p>
        </p:txBody>
      </p:sp>
      <p:sp>
        <p:nvSpPr>
          <p:cNvPr id="5" name="Rectangle 1"/>
          <p:cNvSpPr>
            <a:spLocks noChangeArrowheads="1"/>
          </p:cNvSpPr>
          <p:nvPr/>
        </p:nvSpPr>
        <p:spPr bwMode="auto">
          <a:xfrm>
            <a:off x="548788" y="1147353"/>
            <a:ext cx="7975101"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Decision Tree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Decision Tree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is a supervised learning algorithm that partitions data into subsets based on feature thresholds, creating a tree-like structure of decisions. It is well-suited for predicting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because it can model non-linear relationships in sensor data, including temperature, pressure, and vibration readings, without requiring feature scaling. Each leaf node represents a predicted RUL value based on training samples that satisfy the splits. In this project, the Decision Tree model achieved an MSE of 21.2120 and an R² of 0.9971, indicating reliable performance despite being less robust to noise than ensemble methods. Its main advantage is interpretability, as the tree structure allows engineers to trace how specific sensor readings influence predictions. Deployed via Flask, it provides real-time, actionable insights for proactive maintenance planning.</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067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59</a:t>
            </a:fld>
            <a:endParaRPr lang="en-US" dirty="0"/>
          </a:p>
        </p:txBody>
      </p:sp>
      <p:sp>
        <p:nvSpPr>
          <p:cNvPr id="6" name="TextBox 5"/>
          <p:cNvSpPr txBox="1"/>
          <p:nvPr/>
        </p:nvSpPr>
        <p:spPr>
          <a:xfrm>
            <a:off x="809298" y="3937938"/>
            <a:ext cx="2938524" cy="369332"/>
          </a:xfrm>
          <a:prstGeom prst="rect">
            <a:avLst/>
          </a:prstGeom>
          <a:noFill/>
        </p:spPr>
        <p:txBody>
          <a:bodyPr wrap="square" rtlCol="0">
            <a:spAutoFit/>
          </a:bodyPr>
          <a:lstStyle/>
          <a:p>
            <a:r>
              <a:rPr lang="en-US" dirty="0" smtClean="0"/>
              <a:t>PERFORMANCE REPORT</a:t>
            </a:r>
            <a:endParaRPr lang="en-US" dirty="0"/>
          </a:p>
        </p:txBody>
      </p:sp>
      <p:sp>
        <p:nvSpPr>
          <p:cNvPr id="7" name="TextBox 6"/>
          <p:cNvSpPr txBox="1"/>
          <p:nvPr/>
        </p:nvSpPr>
        <p:spPr>
          <a:xfrm>
            <a:off x="5669433" y="4152164"/>
            <a:ext cx="3189248" cy="370890"/>
          </a:xfrm>
          <a:prstGeom prst="rect">
            <a:avLst/>
          </a:prstGeom>
          <a:noFill/>
        </p:spPr>
        <p:txBody>
          <a:bodyPr wrap="square" rtlCol="0">
            <a:spAutoFit/>
          </a:bodyPr>
          <a:lstStyle/>
          <a:p>
            <a:r>
              <a:rPr lang="en-US" dirty="0" smtClean="0"/>
              <a:t>CODE</a:t>
            </a:r>
            <a:endParaRPr lang="en-US" dirty="0"/>
          </a:p>
        </p:txBody>
      </p:sp>
      <p:pic>
        <p:nvPicPr>
          <p:cNvPr id="8" name="Picture 7"/>
          <p:cNvPicPr/>
          <p:nvPr/>
        </p:nvPicPr>
        <p:blipFill>
          <a:blip r:embed="rId2"/>
          <a:stretch>
            <a:fillRect/>
          </a:stretch>
        </p:blipFill>
        <p:spPr>
          <a:xfrm>
            <a:off x="4252091" y="627873"/>
            <a:ext cx="4166694" cy="3455368"/>
          </a:xfrm>
          <a:prstGeom prst="rect">
            <a:avLst/>
          </a:prstGeom>
        </p:spPr>
      </p:pic>
      <p:pic>
        <p:nvPicPr>
          <p:cNvPr id="11" name="Picture 10"/>
          <p:cNvPicPr/>
          <p:nvPr/>
        </p:nvPicPr>
        <p:blipFill>
          <a:blip r:embed="rId3"/>
          <a:stretch>
            <a:fillRect/>
          </a:stretch>
        </p:blipFill>
        <p:spPr>
          <a:xfrm>
            <a:off x="809298" y="1265108"/>
            <a:ext cx="2325247" cy="2171775"/>
          </a:xfrm>
          <a:prstGeom prst="rect">
            <a:avLst/>
          </a:prstGeom>
        </p:spPr>
      </p:pic>
    </p:spTree>
    <p:extLst>
      <p:ext uri="{BB962C8B-B14F-4D97-AF65-F5344CB8AC3E}">
        <p14:creationId xmlns:p14="http://schemas.microsoft.com/office/powerpoint/2010/main" val="32604867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60</a:t>
            </a:fld>
            <a:endParaRPr lang="en-US" dirty="0"/>
          </a:p>
        </p:txBody>
      </p:sp>
      <p:sp>
        <p:nvSpPr>
          <p:cNvPr id="3" name="Rectangle 2"/>
          <p:cNvSpPr/>
          <p:nvPr/>
        </p:nvSpPr>
        <p:spPr>
          <a:xfrm>
            <a:off x="602333" y="355052"/>
            <a:ext cx="8041756" cy="1218539"/>
          </a:xfrm>
          <a:prstGeom prst="rect">
            <a:avLst/>
          </a:prstGeom>
        </p:spPr>
        <p:txBody>
          <a:bodyPr wrap="square">
            <a:spAutoFit/>
          </a:bodyPr>
          <a:lstStyle/>
          <a:p>
            <a:pPr lvl="0" algn="just">
              <a:lnSpc>
                <a:spcPct val="200000"/>
              </a:lnSpc>
              <a:spcAft>
                <a:spcPts val="800"/>
              </a:spcAft>
              <a:buSzPts val="1000"/>
              <a:tabLst>
                <a:tab pos="457200" algn="l"/>
              </a:tabLst>
            </a:pPr>
            <a:r>
              <a:rPr lang="en-US" dirty="0" smtClean="0">
                <a:latin typeface="Times New Roman" panose="02020603050405020304" pitchFamily="18" charset="0"/>
                <a:cs typeface="Times New Roman" panose="02020603050405020304" pitchFamily="18" charset="0"/>
              </a:rPr>
              <a:t>Results</a:t>
            </a:r>
          </a:p>
          <a:p>
            <a:pPr lvl="0" algn="just">
              <a:lnSpc>
                <a:spcPct val="200000"/>
              </a:lnSpc>
              <a:spcAft>
                <a:spcPts val="800"/>
              </a:spcAft>
              <a:buSzPts val="1000"/>
              <a:tabLst>
                <a:tab pos="457200" algn="l"/>
              </a:tabLs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60</a:t>
            </a:fld>
            <a:endParaRPr lang="en-US" dirty="0"/>
          </a:p>
        </p:txBody>
      </p:sp>
      <p:sp>
        <p:nvSpPr>
          <p:cNvPr id="5" name="Rectangle 4"/>
          <p:cNvSpPr/>
          <p:nvPr/>
        </p:nvSpPr>
        <p:spPr>
          <a:xfrm>
            <a:off x="545196" y="964321"/>
            <a:ext cx="8156029" cy="376834"/>
          </a:xfrm>
          <a:prstGeom prst="rect">
            <a:avLst/>
          </a:prstGeom>
        </p:spPr>
        <p:txBody>
          <a:bodyPr wrap="square">
            <a:spAutoFit/>
          </a:bodyPr>
          <a:lstStyle/>
          <a:p>
            <a:pPr algn="just">
              <a:lnSpc>
                <a:spcPct val="150000"/>
              </a:lnSpc>
            </a:pPr>
            <a:endParaRPr lang="en-IN" sz="1400" dirty="0">
              <a:latin typeface="Times New Roman" panose="02020603050405020304" pitchFamily="18" charset="0"/>
              <a:cs typeface="Times New Roman" panose="02020603050405020304" pitchFamily="18" charset="0"/>
            </a:endParaRPr>
          </a:p>
        </p:txBody>
      </p:sp>
      <p:sp>
        <p:nvSpPr>
          <p:cNvPr id="6" name="Rectangle 5"/>
          <p:cNvSpPr/>
          <p:nvPr/>
        </p:nvSpPr>
        <p:spPr>
          <a:xfrm>
            <a:off x="602333" y="1152738"/>
            <a:ext cx="7819696" cy="2962158"/>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Decision Tree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is a supervised learning algorithm that partitions data into subsets based on feature thresholds, creating a tree-like structure of decisions. It is well-suited for predicting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because it can model non-linear relationships in sensor data, including temperature, pressure, and vibration readings, without requiring feature scaling. Each leaf node represents a predicted RUL value based on training samples that satisfy the splits. In this project, the Decision Tree model achieved an MSE of 21.2120 and an R² of 0.9971, indicating reliable performance despite being less robust to noise than ensemble methods. Its main advantage is interpretability, as the tree structure allows engineers to trace how specific sensor readings influence predictions. Deployed via Flask, it provides real-time, actionable insights for proactive maintenance planning.</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136146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US"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KNN</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rot="10800000">
            <a:off x="1307321" y="5946221"/>
            <a:ext cx="7935525" cy="4571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rot="10800000" flipV="1">
            <a:off x="411593" y="1101451"/>
            <a:ext cx="814382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K-Nearest Neighbors (KNN)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a non-parametric, instance-based learning algorithm that makes predictions based on the values of the k closest training data points in the feature space. Unlike most other models, KNN does not learn an internal model during training; instead, it memorizes the training data and performs calculations during prediction. To predict the output for a new instance, the algorithm identifies the k nearest neighbors using a distance metric like Euclidean distance and computes the average (or weighted average) of their target values. KNN is simple, intuitive, and effective for small datasets with well-structured relationships. However, it is highly sensitive to feature scaling, irrelevant features, and the choice of k. It also suffers from high computational costs during prediction, especially for large datasets, since it needs to search through all training data. Despite its limitations, KNN can perform well when the data has a clear local structure and low dimensionality. </a:t>
            </a:r>
          </a:p>
        </p:txBody>
      </p:sp>
    </p:spTree>
    <p:extLst>
      <p:ext uri="{BB962C8B-B14F-4D97-AF65-F5344CB8AC3E}">
        <p14:creationId xmlns:p14="http://schemas.microsoft.com/office/powerpoint/2010/main" val="333939307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62</a:t>
            </a:fld>
            <a:endParaRPr lang="en-US" dirty="0"/>
          </a:p>
        </p:txBody>
      </p:sp>
      <p:sp>
        <p:nvSpPr>
          <p:cNvPr id="7" name="TextBox 6"/>
          <p:cNvSpPr txBox="1"/>
          <p:nvPr/>
        </p:nvSpPr>
        <p:spPr>
          <a:xfrm>
            <a:off x="5669433" y="4069187"/>
            <a:ext cx="3189248" cy="370890"/>
          </a:xfrm>
          <a:prstGeom prst="rect">
            <a:avLst/>
          </a:prstGeom>
          <a:noFill/>
        </p:spPr>
        <p:txBody>
          <a:bodyPr wrap="square" rtlCol="0">
            <a:spAutoFit/>
          </a:bodyPr>
          <a:lstStyle/>
          <a:p>
            <a:r>
              <a:rPr lang="en-US" dirty="0" smtClean="0"/>
              <a:t>CODE</a:t>
            </a:r>
            <a:endParaRPr lang="en-US" dirty="0"/>
          </a:p>
        </p:txBody>
      </p:sp>
      <p:sp>
        <p:nvSpPr>
          <p:cNvPr id="8" name="Rectangle 7"/>
          <p:cNvSpPr/>
          <p:nvPr/>
        </p:nvSpPr>
        <p:spPr>
          <a:xfrm>
            <a:off x="1102942" y="4070745"/>
            <a:ext cx="2802370" cy="369332"/>
          </a:xfrm>
          <a:prstGeom prst="rect">
            <a:avLst/>
          </a:prstGeom>
        </p:spPr>
        <p:txBody>
          <a:bodyPr wrap="none">
            <a:spAutoFit/>
          </a:bodyPr>
          <a:lstStyle/>
          <a:p>
            <a:r>
              <a:rPr lang="en-US" dirty="0"/>
              <a:t>PERFORMANCE REPORT</a:t>
            </a:r>
          </a:p>
        </p:txBody>
      </p:sp>
      <p:pic>
        <p:nvPicPr>
          <p:cNvPr id="5" name="Picture 4"/>
          <p:cNvPicPr>
            <a:picLocks noChangeAspect="1"/>
          </p:cNvPicPr>
          <p:nvPr/>
        </p:nvPicPr>
        <p:blipFill>
          <a:blip r:embed="rId2"/>
          <a:stretch>
            <a:fillRect/>
          </a:stretch>
        </p:blipFill>
        <p:spPr>
          <a:xfrm>
            <a:off x="4547173" y="534919"/>
            <a:ext cx="3671915" cy="3534268"/>
          </a:xfrm>
          <a:prstGeom prst="rect">
            <a:avLst/>
          </a:prstGeom>
        </p:spPr>
      </p:pic>
      <p:pic>
        <p:nvPicPr>
          <p:cNvPr id="6" name="Picture 5"/>
          <p:cNvPicPr>
            <a:picLocks noChangeAspect="1"/>
          </p:cNvPicPr>
          <p:nvPr/>
        </p:nvPicPr>
        <p:blipFill>
          <a:blip r:embed="rId3"/>
          <a:stretch>
            <a:fillRect/>
          </a:stretch>
        </p:blipFill>
        <p:spPr>
          <a:xfrm>
            <a:off x="1218507" y="1993951"/>
            <a:ext cx="2715004" cy="1642627"/>
          </a:xfrm>
          <a:prstGeom prst="rect">
            <a:avLst/>
          </a:prstGeom>
        </p:spPr>
      </p:pic>
    </p:spTree>
    <p:extLst>
      <p:ext uri="{BB962C8B-B14F-4D97-AF65-F5344CB8AC3E}">
        <p14:creationId xmlns:p14="http://schemas.microsoft.com/office/powerpoint/2010/main" val="8472793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63</a:t>
            </a:fld>
            <a:endParaRPr lang="en-US" dirty="0"/>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63</a:t>
            </a:fld>
            <a:endParaRPr lang="en-US" dirty="0"/>
          </a:p>
        </p:txBody>
      </p:sp>
      <p:sp>
        <p:nvSpPr>
          <p:cNvPr id="5" name="Rectangle 1"/>
          <p:cNvSpPr>
            <a:spLocks noChangeArrowheads="1"/>
          </p:cNvSpPr>
          <p:nvPr/>
        </p:nvSpPr>
        <p:spPr bwMode="auto">
          <a:xfrm>
            <a:off x="488642" y="498629"/>
            <a:ext cx="768840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K-Nearest Neighbors (KNN)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592330" y="1020823"/>
            <a:ext cx="781594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K-Nearest Neighbors (KNN)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model shows relatively weaker performance compared to other models in the project. It recorded a high Mean Squared Error (MSE) of 1261.2236 and a lower R² score of 0.9878. Although the R² is still strong, the high MSE indicates a greater deviation between predicted and actual values. This performance suggests that KNN may not generalize well for this particular task involving temporal battery behavior prediction. Since KNN is a non-parametric, instance-based learning method, it relies heavily on the choice of ‘k’ value and distance metric. While it is simple and intuitive, KNN may struggle with high-dimensional data or datasets with noise, which could explain the large error. Therefore, although KNN can be used for regression, it is not ideal for complex predictive maintenance systems where accuracy and robustness are critical. More advanced models like Random Forest or Gradient Boosting are preferred in such cases.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13958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US"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MLP</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rot="10800000">
            <a:off x="1307321" y="5946221"/>
            <a:ext cx="7935525" cy="4571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rot="10800000" flipV="1">
            <a:off x="411593" y="1120781"/>
            <a:ext cx="8143827"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400" dirty="0" smtClean="0">
                <a:latin typeface="Times New Roman" panose="02020603050405020304" pitchFamily="18" charset="0"/>
                <a:cs typeface="Times New Roman" panose="02020603050405020304" pitchFamily="18" charset="0"/>
              </a:rPr>
              <a:t>A Multi-Layer Perceptron (MLP) is a class of feedforward artificial neural networks that consists of an input layer, one or more hidden layers, and an output layer. Each layer is composed of neurons that are fully connected to the next, and each neuron applies an activation function to the weighted sum of its inputs. MLPs are capable of learning complex nonlinear mappings from input to output, making them ideal for both classification and regression problems. In regression tasks like Remaining Useful Life (RUL) prediction, MLPs are trained to minimize loss functions such as Mean Squared Error. Their strength lies in the ability to learn hidden representations of data, especially when relationships among variables are not strictly linear. MLPs require careful tuning of </a:t>
            </a:r>
            <a:r>
              <a:rPr lang="en-US" sz="1400" dirty="0" err="1" smtClean="0">
                <a:latin typeface="Times New Roman" panose="02020603050405020304" pitchFamily="18" charset="0"/>
                <a:cs typeface="Times New Roman" panose="02020603050405020304" pitchFamily="18" charset="0"/>
              </a:rPr>
              <a:t>hyperparameters</a:t>
            </a:r>
            <a:r>
              <a:rPr lang="en-US" sz="1400" dirty="0" smtClean="0">
                <a:latin typeface="Times New Roman" panose="02020603050405020304" pitchFamily="18" charset="0"/>
                <a:cs typeface="Times New Roman" panose="02020603050405020304" pitchFamily="18" charset="0"/>
              </a:rPr>
              <a:t> like learning rate, number of hidden layers, and activation functions. Despite their simplicity compared to deeper architectures, MLPs are widely used in practical machine learning applications for their balance of accuracy and efficiency.</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0157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65</a:t>
            </a:fld>
            <a:endParaRPr lang="en-US" dirty="0"/>
          </a:p>
        </p:txBody>
      </p:sp>
      <p:sp>
        <p:nvSpPr>
          <p:cNvPr id="7" name="TextBox 6"/>
          <p:cNvSpPr txBox="1"/>
          <p:nvPr/>
        </p:nvSpPr>
        <p:spPr>
          <a:xfrm>
            <a:off x="6166777" y="4179599"/>
            <a:ext cx="3189248" cy="370890"/>
          </a:xfrm>
          <a:prstGeom prst="rect">
            <a:avLst/>
          </a:prstGeom>
          <a:noFill/>
        </p:spPr>
        <p:txBody>
          <a:bodyPr wrap="square" rtlCol="0">
            <a:spAutoFit/>
          </a:bodyPr>
          <a:lstStyle/>
          <a:p>
            <a:r>
              <a:rPr lang="en-US" dirty="0" smtClean="0"/>
              <a:t>CODE</a:t>
            </a:r>
            <a:endParaRPr lang="en-US" dirty="0"/>
          </a:p>
        </p:txBody>
      </p:sp>
      <p:sp>
        <p:nvSpPr>
          <p:cNvPr id="8" name="Rectangle 7"/>
          <p:cNvSpPr/>
          <p:nvPr/>
        </p:nvSpPr>
        <p:spPr>
          <a:xfrm>
            <a:off x="1102942" y="4070745"/>
            <a:ext cx="2802370" cy="369332"/>
          </a:xfrm>
          <a:prstGeom prst="rect">
            <a:avLst/>
          </a:prstGeom>
        </p:spPr>
        <p:txBody>
          <a:bodyPr wrap="none">
            <a:spAutoFit/>
          </a:bodyPr>
          <a:lstStyle/>
          <a:p>
            <a:r>
              <a:rPr lang="en-US" dirty="0"/>
              <a:t>PERFORMANCE REPORT</a:t>
            </a:r>
          </a:p>
        </p:txBody>
      </p:sp>
      <p:pic>
        <p:nvPicPr>
          <p:cNvPr id="10" name="Picture 9"/>
          <p:cNvPicPr/>
          <p:nvPr/>
        </p:nvPicPr>
        <p:blipFill>
          <a:blip r:embed="rId2"/>
          <a:stretch>
            <a:fillRect/>
          </a:stretch>
        </p:blipFill>
        <p:spPr>
          <a:xfrm>
            <a:off x="4631900" y="462989"/>
            <a:ext cx="3971290" cy="3606198"/>
          </a:xfrm>
          <a:prstGeom prst="rect">
            <a:avLst/>
          </a:prstGeom>
        </p:spPr>
      </p:pic>
      <p:pic>
        <p:nvPicPr>
          <p:cNvPr id="11" name="Picture 10"/>
          <p:cNvPicPr/>
          <p:nvPr/>
        </p:nvPicPr>
        <p:blipFill>
          <a:blip r:embed="rId3"/>
          <a:stretch>
            <a:fillRect/>
          </a:stretch>
        </p:blipFill>
        <p:spPr>
          <a:xfrm>
            <a:off x="1238312" y="1720741"/>
            <a:ext cx="2667000" cy="1978900"/>
          </a:xfrm>
          <a:prstGeom prst="rect">
            <a:avLst/>
          </a:prstGeom>
        </p:spPr>
      </p:pic>
    </p:spTree>
    <p:extLst>
      <p:ext uri="{BB962C8B-B14F-4D97-AF65-F5344CB8AC3E}">
        <p14:creationId xmlns:p14="http://schemas.microsoft.com/office/powerpoint/2010/main" val="3806755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66</a:t>
            </a:fld>
            <a:endParaRPr lang="en-US" dirty="0"/>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66</a:t>
            </a:fld>
            <a:endParaRPr lang="en-US" dirty="0"/>
          </a:p>
        </p:txBody>
      </p:sp>
      <p:sp>
        <p:nvSpPr>
          <p:cNvPr id="5" name="Rectangle 1"/>
          <p:cNvSpPr>
            <a:spLocks noChangeArrowheads="1"/>
          </p:cNvSpPr>
          <p:nvPr/>
        </p:nvSpPr>
        <p:spPr bwMode="auto">
          <a:xfrm>
            <a:off x="499152" y="404457"/>
            <a:ext cx="768840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Results </a:t>
            </a:r>
          </a:p>
          <a:p>
            <a:pPr lvl="0" defTabSz="914400" eaLnBrk="0" fontAlgn="base" hangingPunct="0">
              <a:spcBef>
                <a:spcPct val="0"/>
              </a:spcBef>
              <a:spcAft>
                <a:spcPct val="0"/>
              </a:spcAf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MLP:</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592330" y="1182404"/>
            <a:ext cx="7815945"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(MLPs) extend feedforward networks by adding multiple hidden layers, allowing deeper representation of complex feature interactions. Each layer transforms sensor inputs through weighted connections and non-linear activations, progressively extracting higher-level features. For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MLPs capture subtle dependencies among vibration, temperature, and pressure readings. In this project, MLP achieved an MSE of 12.0854 and an R² of 0.9984, reflecting strong predictive accuracy. Training used dropout and early stopping to mitigate overfitting, improving generalization to unseen cycles. Integrated into the Flask web app, MLP delivers real-time RUL predictions critical for proactive maintenance planning. Its deep architecture provides greater flexibility than simpler models, and when combined with ensemble </a:t>
            </a:r>
            <a:r>
              <a:rPr lang="en-US" sz="1400" dirty="0" err="1">
                <a:latin typeface="Times New Roman" panose="02020603050405020304" pitchFamily="18" charset="0"/>
                <a:cs typeface="Times New Roman" panose="02020603050405020304" pitchFamily="18" charset="0"/>
              </a:rPr>
              <a:t>regressors</a:t>
            </a:r>
            <a:r>
              <a:rPr lang="en-US" sz="1400" dirty="0">
                <a:latin typeface="Times New Roman" panose="02020603050405020304" pitchFamily="18" charset="0"/>
                <a:cs typeface="Times New Roman" panose="02020603050405020304" pitchFamily="18" charset="0"/>
              </a:rPr>
              <a:t>, it can further improve system robustness, offering a powerful solution for predictive aviation systems.</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81272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US"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FNN</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rot="10800000">
            <a:off x="1307321" y="5946221"/>
            <a:ext cx="7935525" cy="4571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rot="10800000" flipV="1">
            <a:off x="411593" y="959199"/>
            <a:ext cx="8143827"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A Feedforward Neural Network (FNN) is one of the simplest and most widely used types of artificial neural networks. It consists of an input layer, one or more hidden layers, and an output layer, where information flows in only one direction—from input to output—without any feedback loops or cycles. Each neuron in a layer is connected to every neuron in the next layer, and the connections are assigned weights that are adjusted during training. FNNs use activation functions such as </a:t>
            </a:r>
            <a:r>
              <a:rPr lang="en-US" sz="1400" dirty="0" err="1">
                <a:latin typeface="Times New Roman" panose="02020603050405020304" pitchFamily="18" charset="0"/>
                <a:cs typeface="Times New Roman" panose="02020603050405020304" pitchFamily="18" charset="0"/>
              </a:rPr>
              <a:t>ReLU</a:t>
            </a:r>
            <a:r>
              <a:rPr lang="en-US" sz="1400" dirty="0">
                <a:latin typeface="Times New Roman" panose="02020603050405020304" pitchFamily="18" charset="0"/>
                <a:cs typeface="Times New Roman" panose="02020603050405020304" pitchFamily="18" charset="0"/>
              </a:rPr>
              <a:t> or sigmoid to introduce non-linearity, enabling them to model complex patterns. In regression tasks, such as predicting Remaining Useful Life (RUL) or energy consumption, FNNs are effective because they can approximate a wide range of continuous functions. Their simplicity makes them easy to implement and interpret, while still providing high accuracy when appropriately configured. FNNs are foundational models that serve as a baseline for many advanced neural network architectures in both research and real-world applications.</a:t>
            </a:r>
          </a:p>
          <a:p>
            <a:pPr lvl="0" algn="just" defTabSz="914400" eaLnBrk="0" fontAlgn="base" hangingPunct="0">
              <a:lnSpc>
                <a:spcPct val="150000"/>
              </a:lnSpc>
              <a:spcBef>
                <a:spcPct val="0"/>
              </a:spcBef>
              <a:spcAft>
                <a:spcPct val="0"/>
              </a:spcAf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79476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68</a:t>
            </a:fld>
            <a:endParaRPr lang="en-US" dirty="0"/>
          </a:p>
        </p:txBody>
      </p:sp>
      <p:sp>
        <p:nvSpPr>
          <p:cNvPr id="6" name="TextBox 5"/>
          <p:cNvSpPr txBox="1"/>
          <p:nvPr/>
        </p:nvSpPr>
        <p:spPr>
          <a:xfrm>
            <a:off x="809298" y="3937938"/>
            <a:ext cx="2938524" cy="369332"/>
          </a:xfrm>
          <a:prstGeom prst="rect">
            <a:avLst/>
          </a:prstGeom>
          <a:noFill/>
        </p:spPr>
        <p:txBody>
          <a:bodyPr wrap="square" rtlCol="0">
            <a:spAutoFit/>
          </a:bodyPr>
          <a:lstStyle/>
          <a:p>
            <a:r>
              <a:rPr lang="en-US" dirty="0" smtClean="0"/>
              <a:t>PERFORMANCE REPORT</a:t>
            </a:r>
            <a:endParaRPr lang="en-US" dirty="0"/>
          </a:p>
        </p:txBody>
      </p:sp>
      <p:sp>
        <p:nvSpPr>
          <p:cNvPr id="7" name="TextBox 6"/>
          <p:cNvSpPr txBox="1"/>
          <p:nvPr/>
        </p:nvSpPr>
        <p:spPr>
          <a:xfrm>
            <a:off x="5669433" y="4152164"/>
            <a:ext cx="3189248" cy="370890"/>
          </a:xfrm>
          <a:prstGeom prst="rect">
            <a:avLst/>
          </a:prstGeom>
          <a:noFill/>
        </p:spPr>
        <p:txBody>
          <a:bodyPr wrap="square" rtlCol="0">
            <a:spAutoFit/>
          </a:bodyPr>
          <a:lstStyle/>
          <a:p>
            <a:r>
              <a:rPr lang="en-US" dirty="0" smtClean="0"/>
              <a:t>CODE</a:t>
            </a:r>
            <a:endParaRPr lang="en-US" dirty="0"/>
          </a:p>
        </p:txBody>
      </p:sp>
      <p:pic>
        <p:nvPicPr>
          <p:cNvPr id="4" name="Picture 3"/>
          <p:cNvPicPr>
            <a:picLocks noChangeAspect="1"/>
          </p:cNvPicPr>
          <p:nvPr/>
        </p:nvPicPr>
        <p:blipFill>
          <a:blip r:embed="rId2"/>
          <a:stretch>
            <a:fillRect/>
          </a:stretch>
        </p:blipFill>
        <p:spPr>
          <a:xfrm>
            <a:off x="4487808" y="579776"/>
            <a:ext cx="3715268" cy="3542437"/>
          </a:xfrm>
          <a:prstGeom prst="rect">
            <a:avLst/>
          </a:prstGeom>
        </p:spPr>
      </p:pic>
      <p:pic>
        <p:nvPicPr>
          <p:cNvPr id="5" name="Picture 4"/>
          <p:cNvPicPr>
            <a:picLocks noChangeAspect="1"/>
          </p:cNvPicPr>
          <p:nvPr/>
        </p:nvPicPr>
        <p:blipFill>
          <a:blip r:embed="rId3"/>
          <a:stretch>
            <a:fillRect/>
          </a:stretch>
        </p:blipFill>
        <p:spPr>
          <a:xfrm>
            <a:off x="870871" y="2089021"/>
            <a:ext cx="2876951" cy="1431946"/>
          </a:xfrm>
          <a:prstGeom prst="rect">
            <a:avLst/>
          </a:prstGeom>
        </p:spPr>
      </p:pic>
    </p:spTree>
    <p:extLst>
      <p:ext uri="{BB962C8B-B14F-4D97-AF65-F5344CB8AC3E}">
        <p14:creationId xmlns:p14="http://schemas.microsoft.com/office/powerpoint/2010/main" val="401972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69</a:t>
            </a:fld>
            <a:endParaRPr lang="en-US" dirty="0"/>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69</a:t>
            </a:fld>
            <a:endParaRPr lang="en-US" dirty="0"/>
          </a:p>
        </p:txBody>
      </p:sp>
      <p:sp>
        <p:nvSpPr>
          <p:cNvPr id="5" name="Rectangle 1"/>
          <p:cNvSpPr>
            <a:spLocks noChangeArrowheads="1"/>
          </p:cNvSpPr>
          <p:nvPr/>
        </p:nvSpPr>
        <p:spPr bwMode="auto">
          <a:xfrm>
            <a:off x="499152" y="687816"/>
            <a:ext cx="768840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FNN</a:t>
            </a:r>
            <a:r>
              <a:rPr kumimoji="0" lang="en-US" altLang="en-US" sz="1400" b="1"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Result</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592330" y="1182404"/>
            <a:ext cx="7815945"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Feedforward Neural Networks (FNNs) are basic neural networks where data flows in one direction—from inputs, through hidden layers, to outputs. In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FNNs capture non-linear relationships in multivariate sensor data such as pressure, temperature, and vibration. Each neuron processes inputs via weighted connections and activation functions like </a:t>
            </a:r>
            <a:r>
              <a:rPr lang="en-US" sz="1400" dirty="0" err="1">
                <a:latin typeface="Times New Roman" panose="02020603050405020304" pitchFamily="18" charset="0"/>
                <a:cs typeface="Times New Roman" panose="02020603050405020304" pitchFamily="18" charset="0"/>
              </a:rPr>
              <a:t>ReLU</a:t>
            </a:r>
            <a:r>
              <a:rPr lang="en-US" sz="1400" dirty="0">
                <a:latin typeface="Times New Roman" panose="02020603050405020304" pitchFamily="18" charset="0"/>
                <a:cs typeface="Times New Roman" panose="02020603050405020304" pitchFamily="18" charset="0"/>
              </a:rPr>
              <a:t>, enabling complex pattern learning. In this project, the FNN achieved an MSE of 17.8211 and an R² of 0.9976, showing strong performance despite slightly lower accuracy than ensemble models. Training used backpropagation with gradient descent, along with regularization to reduce overfitting. Integrated into Flask, FNN provides real-time predictions, enhancing usability in maintenance systems. Though simpler than deep recurrent models, FNNs remain flexible, interpretable, and effective, making them valuable standalone predictors or components of hybrid ensemble frameworks.</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8290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929" y="263494"/>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smtClean="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5" name="Rectangle 3"/>
          <p:cNvSpPr>
            <a:spLocks noChangeArrowheads="1"/>
          </p:cNvSpPr>
          <p:nvPr/>
        </p:nvSpPr>
        <p:spPr bwMode="auto">
          <a:xfrm>
            <a:off x="563942" y="925358"/>
            <a:ext cx="8019983"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prediction of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Remaining Useful Life (RUL) has significant potential for further enhancement and application. Future work can incorporate </a:t>
            </a:r>
            <a:r>
              <a:rPr lang="en-US" sz="1400" b="1" dirty="0">
                <a:latin typeface="Times New Roman" panose="02020603050405020304" pitchFamily="18" charset="0"/>
                <a:cs typeface="Times New Roman" panose="02020603050405020304" pitchFamily="18" charset="0"/>
              </a:rPr>
              <a:t>real-time streaming data</a:t>
            </a:r>
            <a:r>
              <a:rPr lang="en-US" sz="1400" dirty="0">
                <a:latin typeface="Times New Roman" panose="02020603050405020304" pitchFamily="18" charset="0"/>
                <a:cs typeface="Times New Roman" panose="02020603050405020304" pitchFamily="18" charset="0"/>
              </a:rPr>
              <a:t> from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-enabled sensors onboard aircraft to continuously update RUL predictions, improving proactive maintenance scheduling. Integration of </a:t>
            </a:r>
            <a:r>
              <a:rPr lang="en-US" sz="1400" b="1" dirty="0">
                <a:latin typeface="Times New Roman" panose="02020603050405020304" pitchFamily="18" charset="0"/>
                <a:cs typeface="Times New Roman" panose="02020603050405020304" pitchFamily="18" charset="0"/>
              </a:rPr>
              <a:t>hybrid models</a:t>
            </a:r>
            <a:r>
              <a:rPr lang="en-US" sz="1400" dirty="0">
                <a:latin typeface="Times New Roman" panose="02020603050405020304" pitchFamily="18" charset="0"/>
                <a:cs typeface="Times New Roman" panose="02020603050405020304" pitchFamily="18" charset="0"/>
              </a:rPr>
              <a:t>, combining ensemble tree-based approaches with deep learning architectures, may further enhance prediction accuracy for complex operational conditions. The system can also be extended to include </a:t>
            </a:r>
            <a:r>
              <a:rPr lang="en-US" sz="1400" b="1" dirty="0">
                <a:latin typeface="Times New Roman" panose="02020603050405020304" pitchFamily="18" charset="0"/>
                <a:cs typeface="Times New Roman" panose="02020603050405020304" pitchFamily="18" charset="0"/>
              </a:rPr>
              <a:t>multi-engine fleet analysis</a:t>
            </a:r>
            <a:r>
              <a:rPr lang="en-US" sz="1400" dirty="0">
                <a:latin typeface="Times New Roman" panose="02020603050405020304" pitchFamily="18" charset="0"/>
                <a:cs typeface="Times New Roman" panose="02020603050405020304" pitchFamily="18" charset="0"/>
              </a:rPr>
              <a:t>, enabling optimized maintenance across multiple aircraft. Additionally, advanced Explainable AI (XAI) techniques beyond SHAP, such as LIME or counterfactual analysis, could provide deeper insights into engine behavior and maintenance decision-making. Incorporating </a:t>
            </a:r>
            <a:r>
              <a:rPr lang="en-US" sz="1400" b="1" dirty="0">
                <a:latin typeface="Times New Roman" panose="02020603050405020304" pitchFamily="18" charset="0"/>
                <a:cs typeface="Times New Roman" panose="02020603050405020304" pitchFamily="18" charset="0"/>
              </a:rPr>
              <a:t>cloud-based deployment</a:t>
            </a:r>
            <a:r>
              <a:rPr lang="en-US" sz="1400" dirty="0">
                <a:latin typeface="Times New Roman" panose="02020603050405020304" pitchFamily="18" charset="0"/>
                <a:cs typeface="Times New Roman" panose="02020603050405020304" pitchFamily="18" charset="0"/>
              </a:rPr>
              <a:t>, automated notifications, and predictive dashboards would make the solution scalable and operationally robust for the aviation industry.</a:t>
            </a:r>
            <a:endParaRPr lang="en-IN" sz="1400" dirty="0">
              <a:latin typeface="Times New Roman" panose="02020603050405020304" pitchFamily="18" charset="0"/>
              <a:cs typeface="Times New Roman" panose="02020603050405020304" pitchFamily="18" charset="0"/>
            </a:endParaRP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1800" b="1" dirty="0" smtClean="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929" y="305087"/>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smtClean="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571053" y="1015787"/>
            <a:ext cx="8133255" cy="3285323"/>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This project successfully demonstrates the feasibility and effectiveness of using advanced machine learning models for predicting the Remaining Useful Life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By evaluating multiple algorithms—including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MLP—it was determined that </a:t>
            </a:r>
            <a:r>
              <a:rPr lang="en-US" sz="1400" b="1" dirty="0">
                <a:latin typeface="Times New Roman" panose="02020603050405020304" pitchFamily="18" charset="0"/>
                <a:cs typeface="Times New Roman" panose="02020603050405020304" pitchFamily="18" charset="0"/>
              </a:rPr>
              <a:t>Extra Trees </a:t>
            </a:r>
            <a:r>
              <a:rPr lang="en-US" sz="1400" b="1" dirty="0" err="1">
                <a:latin typeface="Times New Roman" panose="02020603050405020304" pitchFamily="18" charset="0"/>
                <a:cs typeface="Times New Roman" panose="02020603050405020304" pitchFamily="18" charset="0"/>
              </a:rPr>
              <a:t>Regressor</a:t>
            </a:r>
            <a:r>
              <a:rPr lang="en-US" sz="1400" b="1" dirty="0">
                <a:latin typeface="Times New Roman" panose="02020603050405020304" pitchFamily="18" charset="0"/>
                <a:cs typeface="Times New Roman" panose="02020603050405020304" pitchFamily="18" charset="0"/>
              </a:rPr>
              <a:t> and MLP</a:t>
            </a:r>
            <a:r>
              <a:rPr lang="en-US" sz="1400" dirty="0">
                <a:latin typeface="Times New Roman" panose="02020603050405020304" pitchFamily="18" charset="0"/>
                <a:cs typeface="Times New Roman" panose="02020603050405020304" pitchFamily="18" charset="0"/>
              </a:rPr>
              <a:t> offer the most reliable and accurate predictions. The integration of SHAP-based Explainable AI provides transparency in feature contributions, fostering trust in model decisions. The deployment of the system as a </a:t>
            </a:r>
            <a:r>
              <a:rPr lang="en-US" sz="1400" b="1" dirty="0">
                <a:latin typeface="Times New Roman" panose="02020603050405020304" pitchFamily="18" charset="0"/>
                <a:cs typeface="Times New Roman" panose="02020603050405020304" pitchFamily="18" charset="0"/>
              </a:rPr>
              <a:t>Flask-based web application</a:t>
            </a:r>
            <a:r>
              <a:rPr lang="en-US" sz="1400" dirty="0">
                <a:latin typeface="Times New Roman" panose="02020603050405020304" pitchFamily="18" charset="0"/>
                <a:cs typeface="Times New Roman" panose="02020603050405020304" pitchFamily="18" charset="0"/>
              </a:rPr>
              <a:t> enables real-time data input, model comparison, and actionable maintenance recommendations. Overall, this research contributes to </a:t>
            </a:r>
            <a:r>
              <a:rPr lang="en-US" sz="1400" b="1" dirty="0">
                <a:latin typeface="Times New Roman" panose="02020603050405020304" pitchFamily="18" charset="0"/>
                <a:cs typeface="Times New Roman" panose="02020603050405020304" pitchFamily="18" charset="0"/>
              </a:rPr>
              <a:t>enhanced aviation safety, reduced operational costs, and improved reliability</a:t>
            </a:r>
            <a:r>
              <a:rPr lang="en-US" sz="1400" dirty="0">
                <a:latin typeface="Times New Roman" panose="02020603050405020304" pitchFamily="18" charset="0"/>
                <a:cs typeface="Times New Roman" panose="02020603050405020304" pitchFamily="18" charset="0"/>
              </a:rPr>
              <a:t>, offering a scalable framework for predictive maintenance in the aerospace sector.</a:t>
            </a:r>
            <a:endParaRPr lang="en-IN" sz="1400" dirty="0">
              <a:latin typeface="Times New Roman" panose="02020603050405020304" pitchFamily="18" charset="0"/>
              <a:cs typeface="Times New Roman" panose="02020603050405020304" pitchFamily="18" charset="0"/>
            </a:endParaRP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72</a:t>
            </a:fld>
            <a:endParaRPr lang="en-US" dirty="0"/>
          </a:p>
        </p:txBody>
      </p:sp>
      <p:sp>
        <p:nvSpPr>
          <p:cNvPr id="3" name="Rectangle 2"/>
          <p:cNvSpPr/>
          <p:nvPr/>
        </p:nvSpPr>
        <p:spPr>
          <a:xfrm>
            <a:off x="3582612" y="307552"/>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p:cNvSpPr>
            <a:spLocks noChangeArrowheads="1"/>
          </p:cNvSpPr>
          <p:nvPr/>
        </p:nvSpPr>
        <p:spPr bwMode="auto">
          <a:xfrm>
            <a:off x="504497" y="957739"/>
            <a:ext cx="8156028"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Elsherif</a:t>
            </a:r>
            <a:r>
              <a:rPr lang="en-US" sz="1400" dirty="0">
                <a:latin typeface="Times New Roman" panose="02020603050405020304" pitchFamily="18" charset="0"/>
                <a:cs typeface="Times New Roman" panose="02020603050405020304" pitchFamily="18" charset="0"/>
              </a:rPr>
              <a:t>, S. M., et al. (2025). "A deep learning-based prognostic approach for predicting the remaining useful life of aero-engines." </a:t>
            </a:r>
            <a:r>
              <a:rPr lang="en-US" sz="1400" i="1" dirty="0">
                <a:latin typeface="Times New Roman" panose="02020603050405020304" pitchFamily="18" charset="0"/>
                <a:cs typeface="Times New Roman" panose="02020603050405020304" pitchFamily="18" charset="0"/>
              </a:rPr>
              <a:t>Scientific Reports</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2"/>
              </a:rPr>
              <a:t>https://www.nature.com/articles/s41598-025-09155-z</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[2] </a:t>
            </a:r>
            <a:r>
              <a:rPr lang="en-US" sz="1400" dirty="0" err="1">
                <a:latin typeface="Times New Roman" panose="02020603050405020304" pitchFamily="18" charset="0"/>
                <a:cs typeface="Times New Roman" panose="02020603050405020304" pitchFamily="18" charset="0"/>
              </a:rPr>
              <a:t>Zha</a:t>
            </a:r>
            <a:r>
              <a:rPr lang="en-US" sz="1400" dirty="0">
                <a:latin typeface="Times New Roman" panose="02020603050405020304" pitchFamily="18" charset="0"/>
                <a:cs typeface="Times New Roman" panose="02020603050405020304" pitchFamily="18" charset="0"/>
              </a:rPr>
              <a:t>, W. (2024). "An aero-engine remaining useful life prediction model based on feature extraction and improved temporal convolution network." </a:t>
            </a:r>
            <a:r>
              <a:rPr lang="en-US" sz="1400" i="1" dirty="0" err="1">
                <a:latin typeface="Times New Roman" panose="02020603050405020304" pitchFamily="18" charset="0"/>
                <a:cs typeface="Times New Roman" panose="02020603050405020304" pitchFamily="18" charset="0"/>
              </a:rPr>
              <a:t>ScienceDirect</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3"/>
              </a:rPr>
              <a:t>https://www.sciencedirect.com/science/article/pii/S2773186324000148</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[3] Zhou, Z. (2024). "An aircraft engine remaining useful life prediction method based on prediction vector angle minimization and feature fusion gate improved transformer." </a:t>
            </a:r>
            <a:r>
              <a:rPr lang="en-US" sz="1400" i="1" dirty="0" err="1">
                <a:latin typeface="Times New Roman" panose="02020603050405020304" pitchFamily="18" charset="0"/>
                <a:cs typeface="Times New Roman" panose="02020603050405020304" pitchFamily="18" charset="0"/>
              </a:rPr>
              <a:t>ScienceDirect</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4"/>
              </a:rPr>
              <a:t>https://www.sciencedirect.com/science/article/abs/pii/S0278612524001870</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[4] </a:t>
            </a:r>
            <a:r>
              <a:rPr lang="en-US" sz="1400" dirty="0" err="1">
                <a:latin typeface="Times New Roman" panose="02020603050405020304" pitchFamily="18" charset="0"/>
                <a:cs typeface="Times New Roman" panose="02020603050405020304" pitchFamily="18" charset="0"/>
              </a:rPr>
              <a:t>Alomari</a:t>
            </a:r>
            <a:r>
              <a:rPr lang="en-US" sz="1400" dirty="0">
                <a:latin typeface="Times New Roman" panose="02020603050405020304" pitchFamily="18" charset="0"/>
                <a:cs typeface="Times New Roman" panose="02020603050405020304" pitchFamily="18" charset="0"/>
              </a:rPr>
              <a:t>, Y., et al. (2023). "Advancing aircraft engine RUL predictions: An interpretable integrated approach of feature engineering and aggregated feature importance." </a:t>
            </a:r>
            <a:r>
              <a:rPr lang="en-US" sz="1400" i="1" dirty="0">
                <a:latin typeface="Times New Roman" panose="02020603050405020304" pitchFamily="18" charset="0"/>
                <a:cs typeface="Times New Roman" panose="02020603050405020304" pitchFamily="18" charset="0"/>
              </a:rPr>
              <a:t>Scientific Reports</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5"/>
              </a:rPr>
              <a:t>https://www.nature.com/articles/s41598-023-40315-1</a:t>
            </a:r>
            <a:endParaRPr lang="en-US" sz="1400" dirty="0">
              <a:latin typeface="Times New Roman" panose="02020603050405020304" pitchFamily="18" charset="0"/>
              <a:cs typeface="Times New Roman" panose="02020603050405020304" pitchFamily="18" charset="0"/>
            </a:endParaRPr>
          </a:p>
          <a:p>
            <a:pPr>
              <a:lnSpc>
                <a:spcPct val="150000"/>
              </a:lnSpc>
            </a:pPr>
            <a:endParaRPr lang="en-IN"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014237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73</a:t>
            </a:fld>
            <a:endParaRPr lang="en-US" dirty="0"/>
          </a:p>
        </p:txBody>
      </p:sp>
      <p:sp>
        <p:nvSpPr>
          <p:cNvPr id="4" name="Rectangle 1"/>
          <p:cNvSpPr>
            <a:spLocks noChangeArrowheads="1"/>
          </p:cNvSpPr>
          <p:nvPr/>
        </p:nvSpPr>
        <p:spPr bwMode="auto">
          <a:xfrm rot="10800000" flipV="1">
            <a:off x="651641" y="929448"/>
            <a:ext cx="8113986"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400" dirty="0">
                <a:latin typeface="Times New Roman" panose="02020603050405020304" pitchFamily="18" charset="0"/>
                <a:cs typeface="Times New Roman" panose="02020603050405020304" pitchFamily="18" charset="0"/>
              </a:rPr>
              <a:t>[5] Deng, S., et al. (2024). "Prediction of remaining useful life of aero-engines based on CNN-LSTM-attention." </a:t>
            </a:r>
            <a:r>
              <a:rPr lang="en-IN" sz="1400" i="1" dirty="0">
                <a:latin typeface="Times New Roman" panose="02020603050405020304" pitchFamily="18" charset="0"/>
                <a:cs typeface="Times New Roman" panose="02020603050405020304" pitchFamily="18" charset="0"/>
              </a:rPr>
              <a:t>International Journal of Computational Intelligence Systems</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2"/>
              </a:rPr>
              <a:t>https://link.springer.com/article/10.1007/s44196-024-00639-w</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[6] Chen, J., et al. (2023). "Aero-engine remaining useful life prediction method with multimodal data fusion and ensemble transfer learning." </a:t>
            </a:r>
            <a:r>
              <a:rPr lang="en-IN" sz="1400" i="1" dirty="0" err="1">
                <a:latin typeface="Times New Roman" panose="02020603050405020304" pitchFamily="18" charset="0"/>
                <a:cs typeface="Times New Roman" panose="02020603050405020304" pitchFamily="18" charset="0"/>
              </a:rPr>
              <a:t>ScienceDirect</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3"/>
              </a:rPr>
              <a:t>https://www.sciencedirect.com/science/article/abs/pii/S0951832023000662</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[7] Liu, Q., et al. (2024). "Enhancing aircraft engine remaining useful life prediction via transfer learning." </a:t>
            </a:r>
            <a:r>
              <a:rPr lang="en-IN" sz="1400" i="1" dirty="0">
                <a:latin typeface="Times New Roman" panose="02020603050405020304" pitchFamily="18" charset="0"/>
                <a:cs typeface="Times New Roman" panose="02020603050405020304" pitchFamily="18" charset="0"/>
              </a:rPr>
              <a:t>Oxford Academic Journal of Computational Design and Engineering</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4"/>
              </a:rPr>
              <a:t>https://academic.oup.com/jcde/article/11/1/343/7610897</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[8] Shi, J., et al. (2023). "Adaptively lightweight spatiotemporal information extraction for aero-engine RUL prediction using Involution GRU." </a:t>
            </a:r>
            <a:r>
              <a:rPr lang="en-IN" sz="1400" i="1" dirty="0">
                <a:latin typeface="Times New Roman" panose="02020603050405020304" pitchFamily="18" charset="0"/>
                <a:cs typeface="Times New Roman" panose="02020603050405020304" pitchFamily="18" charset="0"/>
              </a:rPr>
              <a:t>PMC</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5"/>
              </a:rPr>
              <a:t>https://pmc.ncbi.nlm.nih.gov/articles/PMC10346437/</a:t>
            </a:r>
            <a:endParaRPr lang="en-IN" sz="1400" dirty="0">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40751" y="421617"/>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863822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74</a:t>
            </a:fld>
            <a:endParaRPr lang="en-US" dirty="0"/>
          </a:p>
        </p:txBody>
      </p:sp>
      <p:sp>
        <p:nvSpPr>
          <p:cNvPr id="4" name="Rectangle 1"/>
          <p:cNvSpPr>
            <a:spLocks noChangeArrowheads="1"/>
          </p:cNvSpPr>
          <p:nvPr/>
        </p:nvSpPr>
        <p:spPr bwMode="auto">
          <a:xfrm rot="10800000" flipV="1">
            <a:off x="600825" y="1217153"/>
            <a:ext cx="8154292" cy="321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400" dirty="0">
                <a:latin typeface="Times New Roman" panose="02020603050405020304" pitchFamily="18" charset="0"/>
                <a:cs typeface="Times New Roman" panose="02020603050405020304" pitchFamily="18" charset="0"/>
              </a:rPr>
              <a:t>[9] Wang, H., et al. (2024). "</a:t>
            </a:r>
            <a:r>
              <a:rPr lang="en-IN" sz="1400" dirty="0" err="1">
                <a:latin typeface="Times New Roman" panose="02020603050405020304" pitchFamily="18" charset="0"/>
                <a:cs typeface="Times New Roman" panose="02020603050405020304" pitchFamily="18" charset="0"/>
              </a:rPr>
              <a:t>Aeroengine</a:t>
            </a:r>
            <a:r>
              <a:rPr lang="en-IN" sz="1400" dirty="0">
                <a:latin typeface="Times New Roman" panose="02020603050405020304" pitchFamily="18" charset="0"/>
                <a:cs typeface="Times New Roman" panose="02020603050405020304" pitchFamily="18" charset="0"/>
              </a:rPr>
              <a:t> remaining life prediction using feature aggregation and evaluation metrics." </a:t>
            </a:r>
            <a:r>
              <a:rPr lang="en-IN" sz="1400" i="1" dirty="0">
                <a:latin typeface="Times New Roman" panose="02020603050405020304" pitchFamily="18" charset="0"/>
                <a:cs typeface="Times New Roman" panose="02020603050405020304" pitchFamily="18" charset="0"/>
              </a:rPr>
              <a:t>Wiley Online Library</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2"/>
              </a:rPr>
              <a:t>https://</a:t>
            </a:r>
            <a:r>
              <a:rPr lang="en-IN" sz="1400" dirty="0" smtClean="0">
                <a:latin typeface="Times New Roman" panose="02020603050405020304" pitchFamily="18" charset="0"/>
                <a:cs typeface="Times New Roman" panose="02020603050405020304" pitchFamily="18" charset="0"/>
                <a:hlinkClick r:id="rId2"/>
              </a:rPr>
              <a:t>onlinelibrary.wiley.com/doi/10.1155/2024/6465566</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[10] Wu, F., et al. (2024). "Remaining useful life prediction based on deep learning: A survey." </a:t>
            </a:r>
            <a:r>
              <a:rPr lang="en-IN" sz="1400" i="1" dirty="0">
                <a:latin typeface="Times New Roman" panose="02020603050405020304" pitchFamily="18" charset="0"/>
                <a:cs typeface="Times New Roman" panose="02020603050405020304" pitchFamily="18" charset="0"/>
              </a:rPr>
              <a:t>PMC</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3"/>
              </a:rPr>
              <a:t>https://pmc.ncbi.nlm.nih.gov/articles/PMC11174398</a:t>
            </a:r>
            <a:r>
              <a:rPr lang="en-IN" sz="1400" dirty="0" smtClean="0">
                <a:latin typeface="Times New Roman" panose="02020603050405020304" pitchFamily="18" charset="0"/>
                <a:cs typeface="Times New Roman" panose="02020603050405020304" pitchFamily="18" charset="0"/>
                <a:hlinkClick r:id="rId3"/>
              </a:rPr>
              <a:t>/</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[11] </a:t>
            </a:r>
            <a:r>
              <a:rPr lang="en-IN" sz="1400" dirty="0" err="1">
                <a:latin typeface="Times New Roman" panose="02020603050405020304" pitchFamily="18" charset="0"/>
                <a:cs typeface="Times New Roman" panose="02020603050405020304" pitchFamily="18" charset="0"/>
              </a:rPr>
              <a:t>Biggio</a:t>
            </a:r>
            <a:r>
              <a:rPr lang="en-IN" sz="1400" dirty="0">
                <a:latin typeface="Times New Roman" panose="02020603050405020304" pitchFamily="18" charset="0"/>
                <a:cs typeface="Times New Roman" panose="02020603050405020304" pitchFamily="18" charset="0"/>
              </a:rPr>
              <a:t>, L., et al. (2021). "Uncertainty-aware remaining useful life predictor." </a:t>
            </a:r>
            <a:r>
              <a:rPr lang="en-IN" sz="1400" i="1"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4"/>
              </a:rPr>
              <a:t>https://</a:t>
            </a:r>
            <a:r>
              <a:rPr lang="en-IN" sz="1400" dirty="0" smtClean="0">
                <a:latin typeface="Times New Roman" panose="02020603050405020304" pitchFamily="18" charset="0"/>
                <a:cs typeface="Times New Roman" panose="02020603050405020304" pitchFamily="18" charset="0"/>
                <a:hlinkClick r:id="rId4"/>
              </a:rPr>
              <a:t>arxiv.org/abs/2104.03613</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[12] Khan, T., et al. (2022). "An explainable regression framework for predicting remaining useful life of machines." </a:t>
            </a:r>
            <a:r>
              <a:rPr lang="en-IN" sz="1400" i="1"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5"/>
              </a:rPr>
              <a:t>https://arxiv.org/abs/2204.13574</a:t>
            </a:r>
            <a:endParaRPr lang="en-IN" sz="1400" dirty="0">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19730" y="483508"/>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721072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1156</TotalTime>
  <Words>7371</Words>
  <Application>Microsoft Office PowerPoint</Application>
  <PresentationFormat>On-screen Show (16:9)</PresentationFormat>
  <Paragraphs>374</Paragraphs>
  <Slides>75</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Poppins</vt:lpstr>
      <vt:lpstr>Century Gothic</vt:lpstr>
      <vt:lpstr>Arial</vt:lpstr>
      <vt:lpstr>Times New Roman</vt:lpstr>
      <vt:lpstr>Bebas Neue</vt:lpstr>
      <vt:lpstr>Poppins Black</vt:lpstr>
      <vt:lpstr>Calibri</vt:lpstr>
      <vt:lpstr>Wingdings</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Proposed System</vt:lpstr>
      <vt:lpstr>ADVANTAGES</vt:lpstr>
      <vt:lpstr>PROJECT FLOW </vt:lpstr>
      <vt:lpstr>Resource Requirements</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 analysis</vt:lpstr>
      <vt:lpstr>Research Gap analysis</vt:lpstr>
      <vt:lpstr>PowerPoint Presentation</vt:lpstr>
      <vt:lpstr>PowerPoint Presentation</vt:lpstr>
      <vt:lpstr>PowerPoint Presentation</vt:lpstr>
      <vt:lpstr>PowerPoint Presentation</vt:lpstr>
      <vt:lpstr>PowerPoint Presentation</vt:lpstr>
      <vt:lpstr>Implementation</vt:lpstr>
      <vt:lpstr>1.Data set Description:   </vt:lpstr>
      <vt:lpstr>1.Data set Description:   </vt:lpstr>
      <vt:lpstr>1.Data set Description:   </vt:lpstr>
      <vt:lpstr>Exploratory Data Analysis </vt:lpstr>
      <vt:lpstr>Exploratory Data Analysis </vt:lpstr>
      <vt:lpstr>Exploratory Data Analysis </vt:lpstr>
      <vt:lpstr>Exploratory Data Analysis </vt:lpstr>
      <vt:lpstr>Exploratory Data Analysis </vt:lpstr>
      <vt:lpstr>Pre-processing steps</vt:lpstr>
      <vt:lpstr>Pre-processing steps</vt:lpstr>
      <vt:lpstr>PowerPoint Presentation</vt:lpstr>
      <vt:lpstr>PowerPoint Presentation</vt:lpstr>
      <vt:lpstr>PowerPoint Presentation</vt:lpstr>
      <vt:lpstr>PowerPoint Presentation</vt:lpstr>
      <vt:lpstr>PowerPoint Presentation</vt:lpstr>
      <vt:lpstr>Random Forest</vt:lpstr>
      <vt:lpstr>Results</vt:lpstr>
      <vt:lpstr>Results</vt:lpstr>
      <vt:lpstr>PowerPoint Presentation</vt:lpstr>
      <vt:lpstr>Results</vt:lpstr>
      <vt:lpstr>Results</vt:lpstr>
      <vt:lpstr>Results</vt:lpstr>
      <vt:lpstr>PowerPoint Presentation</vt:lpstr>
      <vt:lpstr>KNN</vt:lpstr>
      <vt:lpstr>Results</vt:lpstr>
      <vt:lpstr>PowerPoint Presentation</vt:lpstr>
      <vt:lpstr>MLP</vt:lpstr>
      <vt:lpstr>Results</vt:lpstr>
      <vt:lpstr>PowerPoint Presentation</vt:lpstr>
      <vt:lpstr>FNN</vt:lpstr>
      <vt:lpstr>Results</vt:lpstr>
      <vt:lpstr>PowerPoint Presentation</vt:lpstr>
      <vt:lpstr>Future Scope</vt:lpstr>
      <vt:lpstr>Conclusion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Shaik Rashed Shariff</cp:lastModifiedBy>
  <cp:revision>226</cp:revision>
  <dcterms:created xsi:type="dcterms:W3CDTF">2024-08-17T15:37:17Z</dcterms:created>
  <dcterms:modified xsi:type="dcterms:W3CDTF">2025-09-17T06:37:55Z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