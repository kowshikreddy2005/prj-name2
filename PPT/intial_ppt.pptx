
<file path=[Content_Types].xml><?xml version="1.0" encoding="utf-8"?>
<Types xmlns="http://schemas.openxmlformats.org/package/2006/content-types">
  <Default Extension="bmp" ContentType="image/bmp"/>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56"/>
  </p:notesMasterIdLst>
  <p:sldIdLst>
    <p:sldId id="256" r:id="rId2"/>
    <p:sldId id="257" r:id="rId3"/>
    <p:sldId id="258" r:id="rId4"/>
    <p:sldId id="487" r:id="rId5"/>
    <p:sldId id="289" r:id="rId6"/>
    <p:sldId id="259" r:id="rId7"/>
    <p:sldId id="261" r:id="rId8"/>
    <p:sldId id="423" r:id="rId9"/>
    <p:sldId id="426" r:id="rId10"/>
    <p:sldId id="265" r:id="rId11"/>
    <p:sldId id="433" r:id="rId12"/>
    <p:sldId id="264" r:id="rId13"/>
    <p:sldId id="488" r:id="rId14"/>
    <p:sldId id="509" r:id="rId15"/>
    <p:sldId id="262" r:id="rId16"/>
    <p:sldId id="292" r:id="rId17"/>
    <p:sldId id="263" r:id="rId18"/>
    <p:sldId id="436" r:id="rId19"/>
    <p:sldId id="473" r:id="rId20"/>
    <p:sldId id="476" r:id="rId21"/>
    <p:sldId id="493" r:id="rId22"/>
    <p:sldId id="474" r:id="rId23"/>
    <p:sldId id="475" r:id="rId24"/>
    <p:sldId id="266" r:id="rId25"/>
    <p:sldId id="524" r:id="rId26"/>
    <p:sldId id="525" r:id="rId27"/>
    <p:sldId id="526" r:id="rId28"/>
    <p:sldId id="293" r:id="rId29"/>
    <p:sldId id="497" r:id="rId30"/>
    <p:sldId id="527" r:id="rId31"/>
    <p:sldId id="498" r:id="rId32"/>
    <p:sldId id="528" r:id="rId33"/>
    <p:sldId id="490" r:id="rId34"/>
    <p:sldId id="517" r:id="rId35"/>
    <p:sldId id="518" r:id="rId36"/>
    <p:sldId id="519" r:id="rId37"/>
    <p:sldId id="520" r:id="rId38"/>
    <p:sldId id="521" r:id="rId39"/>
    <p:sldId id="522" r:id="rId40"/>
    <p:sldId id="523" r:id="rId41"/>
    <p:sldId id="491" r:id="rId42"/>
    <p:sldId id="492" r:id="rId43"/>
    <p:sldId id="297" r:id="rId44"/>
    <p:sldId id="529" r:id="rId45"/>
    <p:sldId id="530" r:id="rId46"/>
    <p:sldId id="532" r:id="rId47"/>
    <p:sldId id="533" r:id="rId48"/>
    <p:sldId id="534" r:id="rId49"/>
    <p:sldId id="389" r:id="rId50"/>
    <p:sldId id="390" r:id="rId51"/>
    <p:sldId id="469" r:id="rId52"/>
    <p:sldId id="471" r:id="rId53"/>
    <p:sldId id="508" r:id="rId54"/>
    <p:sldId id="272" r:id="rId55"/>
  </p:sldIdLst>
  <p:sldSz cx="9144000" cy="5143500" type="screen16x9"/>
  <p:notesSz cx="6858000" cy="9144000"/>
  <p:embeddedFontLst>
    <p:embeddedFont>
      <p:font typeface="Poppins" panose="00000500000000000000"/>
      <p:regular r:id="rId57"/>
    </p:embeddedFont>
    <p:embeddedFont>
      <p:font typeface="Calibri" panose="020F0502020204030204" pitchFamily="34" charset="0"/>
      <p:regular r:id="rId58"/>
      <p:bold r:id="rId59"/>
      <p:italic r:id="rId60"/>
      <p:boldItalic r:id="rId61"/>
    </p:embeddedFont>
    <p:embeddedFont>
      <p:font typeface="Poppins Black" panose="00000800000000000000"/>
      <p:bold r:id="rId57"/>
      <p:boldItalic r:id="rId57"/>
    </p:embeddedFont>
    <p:embeddedFont>
      <p:font typeface="Bebas Neue"/>
      <p:regular r:id="rId57"/>
    </p:embeddedFont>
    <p:embeddedFont>
      <p:font typeface="Century Gothic" panose="020B0502020202020204" pitchFamily="34" charset="0"/>
      <p:regular r:id="rId62"/>
      <p:bold r:id="rId63"/>
      <p:italic r:id="rId64"/>
      <p:boldItalic r:id="rId6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7" d="100"/>
          <a:sy n="97" d="100"/>
        </p:scale>
        <p:origin x="630" y="78"/>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NUL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24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45600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332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0709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7902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2368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0153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2420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53742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198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3891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62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4805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5684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5678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2030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97926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6698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37256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37446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3843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75557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71835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47256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9/17/2025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9/17/2025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9/17/2025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9/17/2025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9/17/2025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9/17/2025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hyperlink" Target="https://www.nature.com/articles/s41598-025-09155-z?utm_source=chatgpt.com" TargetMode="External"/><Relationship Id="rId2" Type="http://schemas.openxmlformats.org/officeDocument/2006/relationships/hyperlink" Target="https://www.sciencedirect.com/science/article/pii/S2773186324000148?utm_source=chatgpt.com" TargetMode="External"/><Relationship Id="rId1" Type="http://schemas.openxmlformats.org/officeDocument/2006/relationships/slideLayout" Target="../slideLayouts/slideLayout16.xml"/><Relationship Id="rId6" Type="http://schemas.openxmlformats.org/officeDocument/2006/relationships/hyperlink" Target="https://arc.aiaa.org/doi/10.2514/6.2025-1909?utm_source=chatgpt.com" TargetMode="External"/><Relationship Id="rId5" Type="http://schemas.openxmlformats.org/officeDocument/2006/relationships/hyperlink" Target="https://www.sciencedirect.com/science/article/abs/pii/S0952197625012023?utm_source=chatgpt.com" TargetMode="External"/><Relationship Id="rId4" Type="http://schemas.openxmlformats.org/officeDocument/2006/relationships/hyperlink" Target="https://link.springer.com/article/10.1007/s44196-024-00639-w?utm_source=chatgpt.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nature.com/articles/s41598-023-40315-1?utm_source=chatgpt.com" TargetMode="External"/><Relationship Id="rId7" Type="http://schemas.openxmlformats.org/officeDocument/2006/relationships/hyperlink" Target="https://www.sciencedirect.com/science/article/abs/pii/S1568494624010998?utm_source=chatgpt.com" TargetMode="External"/><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hyperlink" Target="https://www.sciencedirect.com/science/article/abs/pii/S0951832023000662?utm_source=chatgpt.com" TargetMode="External"/><Relationship Id="rId5" Type="http://schemas.openxmlformats.org/officeDocument/2006/relationships/hyperlink" Target="https://www.sciencedirect.com/science/article/abs/pii/S0278612524001870?utm_source=chatgpt.com" TargetMode="External"/><Relationship Id="rId4" Type="http://schemas.openxmlformats.org/officeDocument/2006/relationships/hyperlink" Target="https://ideas.repec.org/a/eee/reensy/v229y2023ics0951832022004860.html?utm_source=chatgpt.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3" Type="http://schemas.openxmlformats.org/officeDocument/2006/relationships/hyperlink" Target="https://www.sciencedirect.com/science/article/pii/S2773186324000148?utm_source=chatgpt.com" TargetMode="External"/><Relationship Id="rId2" Type="http://schemas.openxmlformats.org/officeDocument/2006/relationships/hyperlink" Target="https://www.nature.com/articles/s41598-025-09155-z?utm_source=chatgpt.com" TargetMode="External"/><Relationship Id="rId1" Type="http://schemas.openxmlformats.org/officeDocument/2006/relationships/slideLayout" Target="../slideLayouts/slideLayout7.xml"/><Relationship Id="rId5" Type="http://schemas.openxmlformats.org/officeDocument/2006/relationships/hyperlink" Target="https://www.nature.com/articles/s41598-023-40315-1?utm_source=chatgpt.com" TargetMode="External"/><Relationship Id="rId4" Type="http://schemas.openxmlformats.org/officeDocument/2006/relationships/hyperlink" Target="https://www.sciencedirect.com/science/article/abs/pii/S0278612524001870?utm_source=chatgpt.com"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www.sciencedirect.com/science/article/abs/pii/S0951832023000662?utm_source=chatgpt.com" TargetMode="External"/><Relationship Id="rId2" Type="http://schemas.openxmlformats.org/officeDocument/2006/relationships/hyperlink" Target="https://link.springer.com/article/10.1007/s44196-024-00639-w?utm_source=chatgpt.com" TargetMode="External"/><Relationship Id="rId1" Type="http://schemas.openxmlformats.org/officeDocument/2006/relationships/slideLayout" Target="../slideLayouts/slideLayout7.xml"/><Relationship Id="rId5" Type="http://schemas.openxmlformats.org/officeDocument/2006/relationships/hyperlink" Target="https://pmc.ncbi.nlm.nih.gov/articles/PMC10346437/?utm_source=chatgpt.com" TargetMode="External"/><Relationship Id="rId4" Type="http://schemas.openxmlformats.org/officeDocument/2006/relationships/hyperlink" Target="https://academic.oup.com/jcde/article/11/1/343/7610897"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pmc.ncbi.nlm.nih.gov/articles/PMC11174398/" TargetMode="External"/><Relationship Id="rId2" Type="http://schemas.openxmlformats.org/officeDocument/2006/relationships/hyperlink" Target="https://onlinelibrary.wiley.com/doi/10.1155/2024/6465566" TargetMode="External"/><Relationship Id="rId1" Type="http://schemas.openxmlformats.org/officeDocument/2006/relationships/slideLayout" Target="../slideLayouts/slideLayout7.xml"/><Relationship Id="rId5" Type="http://schemas.openxmlformats.org/officeDocument/2006/relationships/hyperlink" Target="https://arxiv.org/abs/2204.13574" TargetMode="External"/><Relationship Id="rId4" Type="http://schemas.openxmlformats.org/officeDocument/2006/relationships/hyperlink" Target="https://arxiv.org/abs/2104.03613"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1925349" y="1800081"/>
            <a:ext cx="5422605" cy="1077218"/>
          </a:xfrm>
          <a:prstGeom prst="rect">
            <a:avLst/>
          </a:prstGeom>
        </p:spPr>
        <p:txBody>
          <a:bodyPr wrap="square">
            <a:spAutoFit/>
          </a:bodyPr>
          <a:lstStyle/>
          <a:p>
            <a:pPr algn="ctr"/>
            <a:r>
              <a:rPr lang="en-US" sz="3200" dirty="0">
                <a:latin typeface="Times New Roman" panose="02020603050405020304" pitchFamily="18" charset="0"/>
                <a:ea typeface="Times New Roman" panose="02020603050405020304" pitchFamily="18" charset="0"/>
              </a:rPr>
              <a:t>Prediction of Remaining Useful Life for </a:t>
            </a:r>
            <a:r>
              <a:rPr lang="en-US" sz="3200" dirty="0" err="1">
                <a:latin typeface="Times New Roman" panose="02020603050405020304" pitchFamily="18" charset="0"/>
                <a:ea typeface="Times New Roman" panose="02020603050405020304" pitchFamily="18" charset="0"/>
              </a:rPr>
              <a:t>AeroEngines</a:t>
            </a:r>
            <a:endParaRPr lang="en-IN" sz="320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69331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flow</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Research Gap analysis</a:t>
            </a:r>
          </a:p>
          <a:p>
            <a:pPr algn="just">
              <a:lnSpc>
                <a:spcPct val="150000"/>
              </a:lnSpc>
            </a:pPr>
            <a:endParaRPr lang="en-US" sz="12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38061" y="1245700"/>
            <a:ext cx="3728172" cy="258532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smtClean="0">
                <a:latin typeface="Times New Roman" panose="02020603050405020304" pitchFamily="18" charset="0"/>
                <a:cs typeface="Times New Roman" panose="02020603050405020304" pitchFamily="18" charset="0"/>
              </a:rPr>
              <a:t>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a:t>
            </a:r>
          </a:p>
          <a:p>
            <a:pPr marL="171450" indent="-17145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Future Scope</a:t>
            </a:r>
          </a:p>
          <a:p>
            <a:pPr marL="171450" lvl="1" indent="-17145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Conclusion</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9109" y="539261"/>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69109" y="1224546"/>
            <a:ext cx="7907333" cy="3285323"/>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prediction of Remaining Useful Life (RUL) in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plays a crucial role in modern predictive maintenance strategies within the aviation industry. Accurate estimation of RUL not only reduces operational costs but also enhances safety, efficiency, and reliability by preventing unexpected engine failures. This project, titled </a:t>
            </a:r>
            <a:r>
              <a:rPr lang="en-US" sz="1400" i="1" dirty="0">
                <a:latin typeface="Times New Roman" panose="02020603050405020304" pitchFamily="18" charset="0"/>
                <a:cs typeface="Times New Roman" panose="02020603050405020304" pitchFamily="18" charset="0"/>
              </a:rPr>
              <a:t>“Prediction of Remaining Useful Life for </a:t>
            </a:r>
            <a:r>
              <a:rPr lang="en-US" sz="1400" i="1" dirty="0" err="1">
                <a:latin typeface="Times New Roman" panose="02020603050405020304" pitchFamily="18" charset="0"/>
                <a:cs typeface="Times New Roman" panose="02020603050405020304" pitchFamily="18" charset="0"/>
              </a:rPr>
              <a:t>AeroEngines</a:t>
            </a:r>
            <a:r>
              <a:rPr lang="en-US" sz="1400" i="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explores the application of advanced machine learning algorithms to analyze sensor and operational data for forecasting engine degradation patterns. Several models, 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K-Nearest Neighbors (KNN), Feedforward Neural Networks (FNN), and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are developed and rigorously evaluated. Performance is measured using Mean Squared Error (MSE) and R² Score, with the </a:t>
            </a:r>
            <a:r>
              <a:rPr lang="en-US" sz="1400" b="1" dirty="0">
                <a:latin typeface="Times New Roman" panose="02020603050405020304" pitchFamily="18" charset="0"/>
                <a:cs typeface="Times New Roman" panose="02020603050405020304" pitchFamily="18" charset="0"/>
              </a:rPr>
              <a:t>Extra Trees </a:t>
            </a:r>
            <a:r>
              <a:rPr lang="en-US" sz="1400" b="1"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MLP</a:t>
            </a:r>
            <a:r>
              <a:rPr lang="en-US" sz="1400" dirty="0">
                <a:latin typeface="Times New Roman" panose="02020603050405020304" pitchFamily="18" charset="0"/>
                <a:cs typeface="Times New Roman" panose="02020603050405020304" pitchFamily="18" charset="0"/>
              </a:rPr>
              <a:t> models emerging as the most effective in delivering reliable and accurate predictions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32474" y="33748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16557" y="1014080"/>
            <a:ext cx="7907331" cy="3647152"/>
          </a:xfrm>
          <a:prstGeom prst="rect">
            <a:avLst/>
          </a:prstGeom>
          <a:noFill/>
        </p:spPr>
        <p:txBody>
          <a:bodyPr wrap="square" rtlCol="0">
            <a:spAutoFit/>
          </a:bodyPr>
          <a:lstStyle/>
          <a:p>
            <a:pPr>
              <a:lnSpc>
                <a:spcPct val="150000"/>
              </a:lnSpc>
            </a:pPr>
            <a:r>
              <a:rPr lang="en-US" sz="1400" dirty="0">
                <a:latin typeface="Times New Roman" panose="02020603050405020304" pitchFamily="18" charset="0"/>
                <a:cs typeface="Times New Roman" panose="02020603050405020304" pitchFamily="18" charset="0"/>
              </a:rPr>
              <a:t>To ensure transparency in decision-making, Explainable AI (XAI) techniques such as SHAP are employed, offering insights into feature importance and model interpretability. The proposed solution is implemented as a Flask-based web application that enables users to upload datasets, compare model performances, and obtain real-time RUL predictions. Furthermore, the system incorporates health state categorization—NORMAL, WARNING, and CRITICAL—and provides actionable maintenance recommendations. This research contributes to proactive aviation maintenance scheduling and minimizes risks associated with unforeseen engine breakdowns</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Keywords:</a:t>
            </a:r>
            <a:r>
              <a:rPr lang="en-US" sz="1400" dirty="0">
                <a:latin typeface="Times New Roman" panose="02020603050405020304" pitchFamily="18" charset="0"/>
                <a:cs typeface="Times New Roman" panose="02020603050405020304" pitchFamily="18" charset="0"/>
              </a:rPr>
              <a:t> Remaining Useful Life,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Machine Learning, Extra Trees, Multi-Layer Perceptron, Predictive Maintenance, Explainable AI, SHAP, Flask Application, Aviation Reliability</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2244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68206" y="201041"/>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187670" y="1123268"/>
            <a:ext cx="7241627" cy="3000821"/>
          </a:xfrm>
          <a:prstGeom prst="rect">
            <a:avLst/>
          </a:prstGeom>
          <a:noFill/>
        </p:spPr>
        <p:txBody>
          <a:bodyPr wrap="square" rtlCol="0">
            <a:spAutoFit/>
          </a:bodyPr>
          <a:lstStyle/>
          <a:p>
            <a:pPr algn="just">
              <a:lnSpc>
                <a:spcPct val="150000"/>
              </a:lnSpc>
            </a:pP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are among the most critical components in aviation, where even minor failures can lead to severe consequences, including safety risks, operational disruptions, and high maintenance costs. Traditional maintenance practices, such as scheduled inspections or corrective maintenance, often result in either premature servicing or unexpected breakdowns. These approaches lack efficiency and fail to leverage the vast amount of sensor and operational data collected from modern engines. The challenge lies in accurately predicting the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to enable timely and proactive maintenance actions. Developing robust, interpretable, and deployable machine learning models for RUL prediction is therefore essential to enhance safety, reduce downtime, and optimize the overall reliability of aviation operations.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765084" y="295699"/>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smtClean="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585115" y="1163823"/>
            <a:ext cx="807383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lnSpc>
                <a:spcPct val="150000"/>
              </a:lnSpc>
              <a:buNone/>
            </a:pPr>
            <a:r>
              <a:rPr lang="en-IN" sz="1400" dirty="0">
                <a:solidFill>
                  <a:schemeClr val="tx1"/>
                </a:solidFill>
                <a:latin typeface="Times New Roman" panose="02020603050405020304" pitchFamily="18" charset="0"/>
                <a:cs typeface="Times New Roman" panose="02020603050405020304" pitchFamily="18" charset="0"/>
              </a:rPr>
              <a:t>The objective of this project is to develop an intelligent, AI-driven framework for predicting the life expectancy and Remaining Useful Life (RUL) of implantable medical devices such as pacemakers and defibrillators. These devices are vital for sustaining patient health and safety, and their timely maintenance or replacement is crucial in avoiding critical failures. The proposed system employs a data-centric approach using regression-based machine learning and deep learning models to forecast device deterioration based on historical and real-time operational parameters. Unlike conventional threshold-based monitoring systems that only trigger alerts after issues arise, this predictive system proactively </a:t>
            </a:r>
            <a:r>
              <a:rPr lang="en-IN" sz="1400" dirty="0" err="1">
                <a:solidFill>
                  <a:schemeClr val="tx1"/>
                </a:solidFill>
                <a:latin typeface="Times New Roman" panose="02020603050405020304" pitchFamily="18" charset="0"/>
                <a:cs typeface="Times New Roman" panose="02020603050405020304" pitchFamily="18" charset="0"/>
              </a:rPr>
              <a:t>analyzes</a:t>
            </a:r>
            <a:r>
              <a:rPr lang="en-IN" sz="1400" dirty="0">
                <a:solidFill>
                  <a:schemeClr val="tx1"/>
                </a:solidFill>
                <a:latin typeface="Times New Roman" panose="02020603050405020304" pitchFamily="18" charset="0"/>
                <a:cs typeface="Times New Roman" panose="02020603050405020304" pitchFamily="18" charset="0"/>
              </a:rPr>
              <a:t> patterns and trends in device </a:t>
            </a:r>
            <a:r>
              <a:rPr lang="en-IN" sz="1400" dirty="0" err="1">
                <a:solidFill>
                  <a:schemeClr val="tx1"/>
                </a:solidFill>
                <a:latin typeface="Times New Roman" panose="02020603050405020304" pitchFamily="18" charset="0"/>
                <a:cs typeface="Times New Roman" panose="02020603050405020304" pitchFamily="18" charset="0"/>
              </a:rPr>
              <a:t>behavior</a:t>
            </a:r>
            <a:r>
              <a:rPr lang="en-IN" sz="1400" dirty="0">
                <a:solidFill>
                  <a:schemeClr val="tx1"/>
                </a:solidFill>
                <a:latin typeface="Times New Roman" panose="02020603050405020304" pitchFamily="18" charset="0"/>
                <a:cs typeface="Times New Roman" panose="02020603050405020304" pitchFamily="18" charset="0"/>
              </a:rPr>
              <a:t> to provide early warnings. The core goal is to integrate a robust predictive layer into healthcare infrastructure that enables preventive action and improves patient outcomes.</a:t>
            </a:r>
          </a:p>
          <a:p>
            <a:pPr marL="146050" indent="0" algn="just">
              <a:lnSpc>
                <a:spcPct val="150000"/>
              </a:lnSpc>
              <a:buNone/>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47839" y="448675"/>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735725" y="1137822"/>
            <a:ext cx="7838612" cy="2962158"/>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covers the end-to-end development of a predictive maintenance solution tailored for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The scope includes data preprocessing, feature engineering, training of machine learning models, and comparative evaluation of algorithms. Advanced models like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are emphasized for their predictive accuracy, while SHAP-based interpretability enhances transparency in decision-making. The project further extends to deploying the solution as a user-friendly Flask web application, enabling dataset uploads, model comparison, and real-time RUL prediction. Additionally, the system categorizes engine health states (NORMAL, WARNING, CRITICAL) and suggests maintenance strategies accordingly. However, the project is limited to the datasets used for model training and does not include integration with live aircraft systems or real-time sensor streaming.</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smtClean="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500965336"/>
              </p:ext>
            </p:extLst>
          </p:nvPr>
        </p:nvGraphicFramePr>
        <p:xfrm>
          <a:off x="599089" y="927100"/>
          <a:ext cx="8071943" cy="3602859"/>
        </p:xfrm>
        <a:graphic>
          <a:graphicData uri="http://schemas.openxmlformats.org/drawingml/2006/table">
            <a:tbl>
              <a:tblPr>
                <a:tableStyleId>{35758FB7-9AC5-4552-8A53-C91805E547FA}</a:tableStyleId>
              </a:tblPr>
              <a:tblGrid>
                <a:gridCol w="1107918">
                  <a:extLst>
                    <a:ext uri="{9D8B030D-6E8A-4147-A177-3AD203B41FA5}">
                      <a16:colId xmlns:a16="http://schemas.microsoft.com/office/drawing/2014/main" val="1610574692"/>
                    </a:ext>
                  </a:extLst>
                </a:gridCol>
                <a:gridCol w="2025772">
                  <a:extLst>
                    <a:ext uri="{9D8B030D-6E8A-4147-A177-3AD203B41FA5}">
                      <a16:colId xmlns:a16="http://schemas.microsoft.com/office/drawing/2014/main" val="3662985134"/>
                    </a:ext>
                  </a:extLst>
                </a:gridCol>
                <a:gridCol w="2020686">
                  <a:extLst>
                    <a:ext uri="{9D8B030D-6E8A-4147-A177-3AD203B41FA5}">
                      <a16:colId xmlns:a16="http://schemas.microsoft.com/office/drawing/2014/main" val="4172943157"/>
                    </a:ext>
                  </a:extLst>
                </a:gridCol>
                <a:gridCol w="2917567">
                  <a:extLst>
                    <a:ext uri="{9D8B030D-6E8A-4147-A177-3AD203B41FA5}">
                      <a16:colId xmlns:a16="http://schemas.microsoft.com/office/drawing/2014/main" val="3482251710"/>
                    </a:ext>
                  </a:extLst>
                </a:gridCol>
              </a:tblGrid>
              <a:tr h="279300">
                <a:tc>
                  <a:txBody>
                    <a:bodyPr/>
                    <a:lstStyle/>
                    <a:p>
                      <a:r>
                        <a:rPr lang="en-IN" sz="1000" b="1" dirty="0">
                          <a:latin typeface="Times New Roman" panose="02020603050405020304" pitchFamily="18" charset="0"/>
                          <a:cs typeface="Times New Roman" panose="02020603050405020304" pitchFamily="18" charset="0"/>
                        </a:rPr>
                        <a:t>Year</a:t>
                      </a:r>
                    </a:p>
                  </a:txBody>
                  <a:tcPr marL="16000" marR="16000" marT="8000" marB="8000" anchor="ctr"/>
                </a:tc>
                <a:tc>
                  <a:txBody>
                    <a:bodyPr/>
                    <a:lstStyle/>
                    <a:p>
                      <a:r>
                        <a:rPr lang="en-IN" sz="1000" b="1">
                          <a:latin typeface="Times New Roman" panose="02020603050405020304" pitchFamily="18" charset="0"/>
                          <a:cs typeface="Times New Roman" panose="02020603050405020304" pitchFamily="18" charset="0"/>
                        </a:rPr>
                        <a:t>Author(s) &amp; Title</a:t>
                      </a:r>
                    </a:p>
                  </a:txBody>
                  <a:tcPr marL="16000" marR="16000" marT="8000" marB="8000" anchor="ctr"/>
                </a:tc>
                <a:tc>
                  <a:txBody>
                    <a:bodyPr/>
                    <a:lstStyle/>
                    <a:p>
                      <a:r>
                        <a:rPr lang="en-IN" sz="1000" b="1">
                          <a:latin typeface="Times New Roman" panose="02020603050405020304" pitchFamily="18" charset="0"/>
                          <a:cs typeface="Times New Roman" panose="02020603050405020304" pitchFamily="18" charset="0"/>
                        </a:rPr>
                        <a:t>Methodology</a:t>
                      </a:r>
                    </a:p>
                  </a:txBody>
                  <a:tcPr marL="16000" marR="16000" marT="8000" marB="8000" anchor="ctr"/>
                </a:tc>
                <a:tc>
                  <a:txBody>
                    <a:bodyPr/>
                    <a:lstStyle/>
                    <a:p>
                      <a:r>
                        <a:rPr lang="en-IN" sz="1000" b="1" dirty="0">
                          <a:latin typeface="Times New Roman" panose="02020603050405020304" pitchFamily="18" charset="0"/>
                          <a:cs typeface="Times New Roman" panose="02020603050405020304" pitchFamily="18" charset="0"/>
                        </a:rPr>
                        <a:t>Key Findings</a:t>
                      </a:r>
                    </a:p>
                  </a:txBody>
                  <a:tcPr marL="16000" marR="16000" marT="8000" marB="8000" anchor="ctr"/>
                </a:tc>
                <a:extLst>
                  <a:ext uri="{0D108BD9-81ED-4DB2-BD59-A6C34878D82A}">
                    <a16:rowId xmlns:a16="http://schemas.microsoft.com/office/drawing/2014/main" val="836665331"/>
                  </a:ext>
                </a:extLst>
              </a:tr>
              <a:tr h="698756">
                <a:tc>
                  <a:txBody>
                    <a:bodyPr/>
                    <a:lstStyle/>
                    <a:p>
                      <a:r>
                        <a:rPr lang="en-IN" sz="1000">
                          <a:latin typeface="Times New Roman" panose="02020603050405020304" pitchFamily="18" charset="0"/>
                          <a:cs typeface="Times New Roman" panose="02020603050405020304" pitchFamily="18" charset="0"/>
                        </a:rPr>
                        <a:t>2025</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Zha, W. – An aero-engine remaining useful life prediction model based on feature selection and the improved TCN</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Temporal Convolution Network (TCN) with feature selection</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Enhanced RUL prediction accuracy by incorporating feature selection techniques. (</a:t>
                      </a:r>
                      <a:r>
                        <a:rPr lang="en-US" sz="1000">
                          <a:latin typeface="Times New Roman" panose="02020603050405020304" pitchFamily="18" charset="0"/>
                          <a:cs typeface="Times New Roman" panose="02020603050405020304" pitchFamily="18" charset="0"/>
                          <a:hlinkClick r:id="rId2" tooltip="An aero-engine remaining useful life prediction model ..."/>
                        </a:rPr>
                        <a:t>ScienceDirect</a:t>
                      </a:r>
                      <a:r>
                        <a:rPr lang="en-US" sz="100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3330695348"/>
                  </a:ext>
                </a:extLst>
              </a:tr>
              <a:tr h="698756">
                <a:tc>
                  <a:txBody>
                    <a:bodyPr/>
                    <a:lstStyle/>
                    <a:p>
                      <a:r>
                        <a:rPr lang="en-IN" sz="1000">
                          <a:latin typeface="Times New Roman" panose="02020603050405020304" pitchFamily="18" charset="0"/>
                          <a:cs typeface="Times New Roman" panose="02020603050405020304" pitchFamily="18" charset="0"/>
                        </a:rPr>
                        <a:t>2025</a:t>
                      </a:r>
                    </a:p>
                  </a:txBody>
                  <a:tcPr marL="16000" marR="16000" marT="8000" marB="8000" anchor="ctr"/>
                </a:tc>
                <a:tc>
                  <a:txBody>
                    <a:bodyPr/>
                    <a:lstStyle/>
                    <a:p>
                      <a:r>
                        <a:rPr lang="en-US" sz="1000" dirty="0" err="1">
                          <a:latin typeface="Times New Roman" panose="02020603050405020304" pitchFamily="18" charset="0"/>
                          <a:cs typeface="Times New Roman" panose="02020603050405020304" pitchFamily="18" charset="0"/>
                        </a:rPr>
                        <a:t>Elsherif</a:t>
                      </a:r>
                      <a:r>
                        <a:rPr lang="en-US" sz="1000" dirty="0">
                          <a:latin typeface="Times New Roman" panose="02020603050405020304" pitchFamily="18" charset="0"/>
                          <a:cs typeface="Times New Roman" panose="02020603050405020304" pitchFamily="18" charset="0"/>
                        </a:rPr>
                        <a:t>, S.M. – A deep learning-based prognostic approach for predicting turbofan engine degradation and remaining useful life</a:t>
                      </a:r>
                    </a:p>
                  </a:txBody>
                  <a:tcPr marL="16000" marR="16000" marT="8000" marB="8000" anchor="ctr"/>
                </a:tc>
                <a:tc>
                  <a:txBody>
                    <a:bodyPr/>
                    <a:lstStyle/>
                    <a:p>
                      <a:r>
                        <a:rPr lang="en-IN" sz="1000" dirty="0">
                          <a:latin typeface="Times New Roman" panose="02020603050405020304" pitchFamily="18" charset="0"/>
                          <a:cs typeface="Times New Roman" panose="02020603050405020304" pitchFamily="18" charset="0"/>
                        </a:rPr>
                        <a:t>Deep Learning Techniques</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Proposed a deep learning-based approach for RUL prediction, improving prognostic accuracy. (</a:t>
                      </a:r>
                      <a:r>
                        <a:rPr lang="en-US" sz="1000" dirty="0">
                          <a:latin typeface="Times New Roman" panose="02020603050405020304" pitchFamily="18" charset="0"/>
                          <a:cs typeface="Times New Roman" panose="02020603050405020304" pitchFamily="18" charset="0"/>
                          <a:hlinkClick r:id="rId3" tooltip="A deep learning-based prognostic approach for predicting ..."/>
                        </a:rPr>
                        <a:t>Nature</a:t>
                      </a:r>
                      <a:r>
                        <a:rPr lang="en-US" sz="1000" dirty="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1573957192"/>
                  </a:ext>
                </a:extLst>
              </a:tr>
              <a:tr h="528535">
                <a:tc>
                  <a:txBody>
                    <a:bodyPr/>
                    <a:lstStyle/>
                    <a:p>
                      <a:r>
                        <a:rPr lang="en-IN" sz="1000">
                          <a:latin typeface="Times New Roman" panose="02020603050405020304" pitchFamily="18" charset="0"/>
                          <a:cs typeface="Times New Roman" panose="02020603050405020304" pitchFamily="18" charset="0"/>
                        </a:rPr>
                        <a:t>2024</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Deng, S. – Prediction of Remaining Useful Life of Aero-engines Based on CNN-LSTM-Attention</a:t>
                      </a:r>
                    </a:p>
                  </a:txBody>
                  <a:tcPr marL="16000" marR="16000" marT="8000" marB="8000" anchor="ctr"/>
                </a:tc>
                <a:tc>
                  <a:txBody>
                    <a:bodyPr/>
                    <a:lstStyle/>
                    <a:p>
                      <a:r>
                        <a:rPr lang="en-IN" sz="1000">
                          <a:latin typeface="Times New Roman" panose="02020603050405020304" pitchFamily="18" charset="0"/>
                          <a:cs typeface="Times New Roman" panose="02020603050405020304" pitchFamily="18" charset="0"/>
                        </a:rPr>
                        <a:t>CNN-LSTM with Attention Mechanism</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Introduced a hybrid model combining CNN, LSTM, and attention mechanisms for RUL prediction. (</a:t>
                      </a:r>
                      <a:r>
                        <a:rPr lang="en-US" sz="1000">
                          <a:latin typeface="Times New Roman" panose="02020603050405020304" pitchFamily="18" charset="0"/>
                          <a:cs typeface="Times New Roman" panose="02020603050405020304" pitchFamily="18" charset="0"/>
                          <a:hlinkClick r:id="rId4" tooltip="Prediction of Remaining Useful Life of Aero-engines Based ..."/>
                        </a:rPr>
                        <a:t>SpringerLink</a:t>
                      </a:r>
                      <a:r>
                        <a:rPr lang="en-US" sz="100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3919982297"/>
                  </a:ext>
                </a:extLst>
              </a:tr>
              <a:tr h="868977">
                <a:tc>
                  <a:txBody>
                    <a:bodyPr/>
                    <a:lstStyle/>
                    <a:p>
                      <a:r>
                        <a:rPr lang="en-IN" sz="1000">
                          <a:latin typeface="Times New Roman" panose="02020603050405020304" pitchFamily="18" charset="0"/>
                          <a:cs typeface="Times New Roman" panose="02020603050405020304" pitchFamily="18" charset="0"/>
                        </a:rPr>
                        <a:t>2024</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Barry, I. – Advanced Multi-Model Prediction of Aircraft Engine Remaining Useful Life with Random-Sampling Based Class Balancing and Voting-Based Features Selection</a:t>
                      </a:r>
                    </a:p>
                  </a:txBody>
                  <a:tcPr marL="16000" marR="16000" marT="8000" marB="8000" anchor="ctr"/>
                </a:tc>
                <a:tc>
                  <a:txBody>
                    <a:bodyPr/>
                    <a:lstStyle/>
                    <a:p>
                      <a:r>
                        <a:rPr lang="en-IN" sz="1000" dirty="0">
                          <a:latin typeface="Times New Roman" panose="02020603050405020304" pitchFamily="18" charset="0"/>
                          <a:cs typeface="Times New Roman" panose="02020603050405020304" pitchFamily="18" charset="0"/>
                        </a:rPr>
                        <a:t>Multi-Model Ensemble</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Developed an ensemble approach incorporating class balancing and feature selection for RUL prediction. (</a:t>
                      </a:r>
                      <a:r>
                        <a:rPr lang="en-US" sz="1000" dirty="0" err="1">
                          <a:latin typeface="Times New Roman" panose="02020603050405020304" pitchFamily="18" charset="0"/>
                          <a:cs typeface="Times New Roman" panose="02020603050405020304" pitchFamily="18" charset="0"/>
                          <a:hlinkClick r:id="rId5" tooltip="Advanced multi-model prediction of aircraft engine ..."/>
                        </a:rPr>
                        <a:t>ScienceDirect</a:t>
                      </a:r>
                      <a:r>
                        <a:rPr lang="en-US" sz="1000" dirty="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4186424757"/>
                  </a:ext>
                </a:extLst>
              </a:tr>
              <a:tr h="528535">
                <a:tc>
                  <a:txBody>
                    <a:bodyPr/>
                    <a:lstStyle/>
                    <a:p>
                      <a:r>
                        <a:rPr lang="en-IN" sz="1000">
                          <a:latin typeface="Times New Roman" panose="02020603050405020304" pitchFamily="18" charset="0"/>
                          <a:cs typeface="Times New Roman" panose="02020603050405020304" pitchFamily="18" charset="0"/>
                        </a:rPr>
                        <a:t>2024</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Peringal, A. – Reliable Prediction of Remaining Useful Life for Aircraft Engines</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Long Short-Term Memory (LSTM) Network</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Utilized LSTM networks for reliable RUL prediction in aircraft engines. (</a:t>
                      </a:r>
                      <a:r>
                        <a:rPr lang="en-US" sz="1000" dirty="0">
                          <a:latin typeface="Times New Roman" panose="02020603050405020304" pitchFamily="18" charset="0"/>
                          <a:cs typeface="Times New Roman" panose="02020603050405020304" pitchFamily="18" charset="0"/>
                          <a:hlinkClick r:id="rId6" tooltip="Reliable Prediction of Remaining Useful Life for Aircraft Engines"/>
                        </a:rPr>
                        <a:t>AIAA Journal</a:t>
                      </a:r>
                      <a:r>
                        <a:rPr lang="en-US" sz="1000" dirty="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123331856"/>
                  </a:ext>
                </a:extLst>
              </a:tr>
            </a:tbl>
          </a:graphicData>
        </a:graphic>
      </p:graphicFrame>
    </p:spTree>
    <p:extLst>
      <p:ext uri="{BB962C8B-B14F-4D97-AF65-F5344CB8AC3E}">
        <p14:creationId xmlns:p14="http://schemas.microsoft.com/office/powerpoint/2010/main" val="40220661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40591905"/>
              </p:ext>
            </p:extLst>
          </p:nvPr>
        </p:nvGraphicFramePr>
        <p:xfrm>
          <a:off x="504495" y="777765"/>
          <a:ext cx="8135009" cy="3808798"/>
        </p:xfrm>
        <a:graphic>
          <a:graphicData uri="http://schemas.openxmlformats.org/drawingml/2006/table">
            <a:tbl>
              <a:tblPr>
                <a:tableStyleId>{35758FB7-9AC5-4552-8A53-C91805E547FA}</a:tableStyleId>
              </a:tblPr>
              <a:tblGrid>
                <a:gridCol w="1051036">
                  <a:extLst>
                    <a:ext uri="{9D8B030D-6E8A-4147-A177-3AD203B41FA5}">
                      <a16:colId xmlns:a16="http://schemas.microsoft.com/office/drawing/2014/main" val="2709741018"/>
                    </a:ext>
                  </a:extLst>
                </a:gridCol>
                <a:gridCol w="2165131">
                  <a:extLst>
                    <a:ext uri="{9D8B030D-6E8A-4147-A177-3AD203B41FA5}">
                      <a16:colId xmlns:a16="http://schemas.microsoft.com/office/drawing/2014/main" val="3597147047"/>
                    </a:ext>
                  </a:extLst>
                </a:gridCol>
                <a:gridCol w="2017986">
                  <a:extLst>
                    <a:ext uri="{9D8B030D-6E8A-4147-A177-3AD203B41FA5}">
                      <a16:colId xmlns:a16="http://schemas.microsoft.com/office/drawing/2014/main" val="1093063022"/>
                    </a:ext>
                  </a:extLst>
                </a:gridCol>
                <a:gridCol w="2900856">
                  <a:extLst>
                    <a:ext uri="{9D8B030D-6E8A-4147-A177-3AD203B41FA5}">
                      <a16:colId xmlns:a16="http://schemas.microsoft.com/office/drawing/2014/main" val="2789256187"/>
                    </a:ext>
                  </a:extLst>
                </a:gridCol>
              </a:tblGrid>
              <a:tr h="364714">
                <a:tc>
                  <a:txBody>
                    <a:bodyPr/>
                    <a:lstStyle/>
                    <a:p>
                      <a:r>
                        <a:rPr lang="en-IN" sz="1000" b="1">
                          <a:latin typeface="Times New Roman" panose="02020603050405020304" pitchFamily="18" charset="0"/>
                          <a:cs typeface="Times New Roman" panose="02020603050405020304" pitchFamily="18" charset="0"/>
                        </a:rPr>
                        <a:t>Year</a:t>
                      </a:r>
                    </a:p>
                  </a:txBody>
                  <a:tcPr marL="16000" marR="16000" marT="8000" marB="8000" anchor="ctr"/>
                </a:tc>
                <a:tc>
                  <a:txBody>
                    <a:bodyPr/>
                    <a:lstStyle/>
                    <a:p>
                      <a:r>
                        <a:rPr lang="en-IN" sz="1000" b="1" dirty="0">
                          <a:latin typeface="Times New Roman" panose="02020603050405020304" pitchFamily="18" charset="0"/>
                          <a:cs typeface="Times New Roman" panose="02020603050405020304" pitchFamily="18" charset="0"/>
                        </a:rPr>
                        <a:t>Author(s) &amp; Title</a:t>
                      </a:r>
                    </a:p>
                  </a:txBody>
                  <a:tcPr marL="16000" marR="16000" marT="8000" marB="8000" anchor="ctr"/>
                </a:tc>
                <a:tc>
                  <a:txBody>
                    <a:bodyPr/>
                    <a:lstStyle/>
                    <a:p>
                      <a:r>
                        <a:rPr lang="en-IN" sz="1000" b="1">
                          <a:latin typeface="Times New Roman" panose="02020603050405020304" pitchFamily="18" charset="0"/>
                          <a:cs typeface="Times New Roman" panose="02020603050405020304" pitchFamily="18" charset="0"/>
                        </a:rPr>
                        <a:t>Methodology</a:t>
                      </a:r>
                    </a:p>
                  </a:txBody>
                  <a:tcPr marL="16000" marR="16000" marT="8000" marB="8000" anchor="ctr"/>
                </a:tc>
                <a:tc>
                  <a:txBody>
                    <a:bodyPr/>
                    <a:lstStyle/>
                    <a:p>
                      <a:r>
                        <a:rPr lang="en-IN" sz="1000" b="1" dirty="0">
                          <a:latin typeface="Times New Roman" panose="02020603050405020304" pitchFamily="18" charset="0"/>
                          <a:cs typeface="Times New Roman" panose="02020603050405020304" pitchFamily="18" charset="0"/>
                        </a:rPr>
                        <a:t>Key Findings</a:t>
                      </a:r>
                    </a:p>
                  </a:txBody>
                  <a:tcPr marL="16000" marR="16000" marT="8000" marB="8000" anchor="ctr"/>
                </a:tc>
                <a:extLst>
                  <a:ext uri="{0D108BD9-81ED-4DB2-BD59-A6C34878D82A}">
                    <a16:rowId xmlns:a16="http://schemas.microsoft.com/office/drawing/2014/main" val="2330683820"/>
                  </a:ext>
                </a:extLst>
              </a:tr>
              <a:tr h="867275">
                <a:tc>
                  <a:txBody>
                    <a:bodyPr/>
                    <a:lstStyle/>
                    <a:p>
                      <a:r>
                        <a:rPr lang="en-IN" sz="1000" dirty="0">
                          <a:latin typeface="Times New Roman" panose="02020603050405020304" pitchFamily="18" charset="0"/>
                          <a:cs typeface="Times New Roman" panose="02020603050405020304" pitchFamily="18" charset="0"/>
                        </a:rPr>
                        <a:t>2023</a:t>
                      </a:r>
                    </a:p>
                  </a:txBody>
                  <a:tcPr marL="16000" marR="16000" marT="8000" marB="8000" anchor="ctr"/>
                </a:tc>
                <a:tc>
                  <a:txBody>
                    <a:bodyPr/>
                    <a:lstStyle/>
                    <a:p>
                      <a:r>
                        <a:rPr lang="en-US" sz="1000" dirty="0" err="1">
                          <a:latin typeface="Times New Roman" panose="02020603050405020304" pitchFamily="18" charset="0"/>
                          <a:cs typeface="Times New Roman" panose="02020603050405020304" pitchFamily="18" charset="0"/>
                        </a:rPr>
                        <a:t>Alomari</a:t>
                      </a:r>
                      <a:r>
                        <a:rPr lang="en-US" sz="1000" dirty="0">
                          <a:latin typeface="Times New Roman" panose="02020603050405020304" pitchFamily="18" charset="0"/>
                          <a:cs typeface="Times New Roman" panose="02020603050405020304" pitchFamily="18" charset="0"/>
                        </a:rPr>
                        <a:t>, Y. – Advancing aircraft engine RUL predictions: an interpretable integrated approach of feature engineering and aggregated feature importance</a:t>
                      </a:r>
                    </a:p>
                  </a:txBody>
                  <a:tcPr marL="16000" marR="16000" marT="8000" marB="8000" anchor="ctr"/>
                </a:tc>
                <a:tc>
                  <a:txBody>
                    <a:bodyPr/>
                    <a:lstStyle/>
                    <a:p>
                      <a:r>
                        <a:rPr lang="en-IN" sz="1000">
                          <a:latin typeface="Times New Roman" panose="02020603050405020304" pitchFamily="18" charset="0"/>
                          <a:cs typeface="Times New Roman" panose="02020603050405020304" pitchFamily="18" charset="0"/>
                        </a:rPr>
                        <a:t>Feature Engineering &amp; Machine Learning</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Proposed an interpretable approach combining feature engineering and machine learning for RUL prediction. (</a:t>
                      </a:r>
                      <a:r>
                        <a:rPr lang="en-US" sz="1000">
                          <a:latin typeface="Times New Roman" panose="02020603050405020304" pitchFamily="18" charset="0"/>
                          <a:cs typeface="Times New Roman" panose="02020603050405020304" pitchFamily="18" charset="0"/>
                          <a:hlinkClick r:id="rId3" tooltip="Advancing aircraft engine RUL predictions"/>
                        </a:rPr>
                        <a:t>Nature</a:t>
                      </a:r>
                      <a:r>
                        <a:rPr lang="en-US" sz="100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2854971469"/>
                  </a:ext>
                </a:extLst>
              </a:tr>
              <a:tr h="618166">
                <a:tc>
                  <a:txBody>
                    <a:bodyPr/>
                    <a:lstStyle/>
                    <a:p>
                      <a:r>
                        <a:rPr lang="en-IN" sz="1000">
                          <a:latin typeface="Times New Roman" panose="02020603050405020304" pitchFamily="18" charset="0"/>
                          <a:cs typeface="Times New Roman" panose="02020603050405020304" pitchFamily="18" charset="0"/>
                        </a:rPr>
                        <a:t>2023</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Li, Y. – Remaining useful life prediction of aero-engine enabled by fusing knowledge and deep learning models</a:t>
                      </a:r>
                    </a:p>
                  </a:txBody>
                  <a:tcPr marL="16000" marR="16000" marT="8000" marB="8000" anchor="ctr"/>
                </a:tc>
                <a:tc>
                  <a:txBody>
                    <a:bodyPr/>
                    <a:lstStyle/>
                    <a:p>
                      <a:r>
                        <a:rPr lang="en-IN" sz="1000">
                          <a:latin typeface="Times New Roman" panose="02020603050405020304" pitchFamily="18" charset="0"/>
                          <a:cs typeface="Times New Roman" panose="02020603050405020304" pitchFamily="18" charset="0"/>
                        </a:rPr>
                        <a:t>Knowledge Fusion &amp; Deep Learning</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Integrated knowledge-based methods with deep learning for enhanced RUL prediction. (</a:t>
                      </a:r>
                      <a:r>
                        <a:rPr lang="en-US" sz="1000">
                          <a:latin typeface="Times New Roman" panose="02020603050405020304" pitchFamily="18" charset="0"/>
                          <a:cs typeface="Times New Roman" panose="02020603050405020304" pitchFamily="18" charset="0"/>
                          <a:hlinkClick r:id="rId4" tooltip="Remaining useful life prediction of aero-engine enabled by ..."/>
                        </a:rPr>
                        <a:t>IDEAS/RePEc</a:t>
                      </a:r>
                      <a:r>
                        <a:rPr lang="en-US" sz="100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3572924356"/>
                  </a:ext>
                </a:extLst>
              </a:tr>
              <a:tr h="784240">
                <a:tc>
                  <a:txBody>
                    <a:bodyPr/>
                    <a:lstStyle/>
                    <a:p>
                      <a:r>
                        <a:rPr lang="en-IN" sz="1000" dirty="0">
                          <a:latin typeface="Times New Roman" panose="02020603050405020304" pitchFamily="18" charset="0"/>
                          <a:cs typeface="Times New Roman" panose="02020603050405020304" pitchFamily="18" charset="0"/>
                        </a:rPr>
                        <a:t>2022</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Zhou, Z. – An aircraft engine remaining useful life prediction method based on prediction vector angle minimization and feature fusion gate improved transformer</a:t>
                      </a:r>
                    </a:p>
                  </a:txBody>
                  <a:tcPr marL="16000" marR="16000" marT="8000" marB="8000" anchor="ctr"/>
                </a:tc>
                <a:tc>
                  <a:txBody>
                    <a:bodyPr/>
                    <a:lstStyle/>
                    <a:p>
                      <a:r>
                        <a:rPr lang="en-IN" sz="1000" dirty="0">
                          <a:latin typeface="Times New Roman" panose="02020603050405020304" pitchFamily="18" charset="0"/>
                          <a:cs typeface="Times New Roman" panose="02020603050405020304" pitchFamily="18" charset="0"/>
                        </a:rPr>
                        <a:t>Transformer with Feature Fusion</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Introduced a transformer-based model with feature fusion for RUL prediction. (</a:t>
                      </a:r>
                      <a:r>
                        <a:rPr lang="en-US" sz="1000" dirty="0" err="1">
                          <a:latin typeface="Times New Roman" panose="02020603050405020304" pitchFamily="18" charset="0"/>
                          <a:cs typeface="Times New Roman" panose="02020603050405020304" pitchFamily="18" charset="0"/>
                          <a:hlinkClick r:id="rId5" tooltip="An aircraft engine remaining useful life prediction method ..."/>
                        </a:rPr>
                        <a:t>ScienceDirect</a:t>
                      </a:r>
                      <a:r>
                        <a:rPr lang="en-US" sz="1000" dirty="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965280073"/>
                  </a:ext>
                </a:extLst>
              </a:tr>
              <a:tr h="701203">
                <a:tc>
                  <a:txBody>
                    <a:bodyPr/>
                    <a:lstStyle/>
                    <a:p>
                      <a:r>
                        <a:rPr lang="en-IN" sz="1000">
                          <a:latin typeface="Times New Roman" panose="02020603050405020304" pitchFamily="18" charset="0"/>
                          <a:cs typeface="Times New Roman" panose="02020603050405020304" pitchFamily="18" charset="0"/>
                        </a:rPr>
                        <a:t>2021</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Chen, J. – Aero-engine remaining useful life prediction method with multimodal data fusion and ensemble transfer learning</a:t>
                      </a:r>
                    </a:p>
                  </a:txBody>
                  <a:tcPr marL="16000" marR="16000" marT="8000" marB="8000" anchor="ctr"/>
                </a:tc>
                <a:tc>
                  <a:txBody>
                    <a:bodyPr/>
                    <a:lstStyle/>
                    <a:p>
                      <a:r>
                        <a:rPr lang="en-IN" sz="1000">
                          <a:latin typeface="Times New Roman" panose="02020603050405020304" pitchFamily="18" charset="0"/>
                          <a:cs typeface="Times New Roman" panose="02020603050405020304" pitchFamily="18" charset="0"/>
                        </a:rPr>
                        <a:t>Multimodal Data Fusion &amp; Transfer Learning</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Proposed a method combining multimodal data fusion and transfer learning for RUL prediction. (</a:t>
                      </a:r>
                      <a:r>
                        <a:rPr lang="en-US" sz="1000">
                          <a:latin typeface="Times New Roman" panose="02020603050405020304" pitchFamily="18" charset="0"/>
                          <a:cs typeface="Times New Roman" panose="02020603050405020304" pitchFamily="18" charset="0"/>
                          <a:hlinkClick r:id="rId6" tooltip="Aero-engine remaining useful life prediction method with ..."/>
                        </a:rPr>
                        <a:t>ScienceDirect</a:t>
                      </a:r>
                      <a:r>
                        <a:rPr lang="en-US" sz="100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3975443147"/>
                  </a:ext>
                </a:extLst>
              </a:tr>
              <a:tr h="469148">
                <a:tc>
                  <a:txBody>
                    <a:bodyPr/>
                    <a:lstStyle/>
                    <a:p>
                      <a:r>
                        <a:rPr lang="en-IN" sz="1000">
                          <a:latin typeface="Times New Roman" panose="02020603050405020304" pitchFamily="18" charset="0"/>
                          <a:cs typeface="Times New Roman" panose="02020603050405020304" pitchFamily="18" charset="0"/>
                        </a:rPr>
                        <a:t>2020</a:t>
                      </a:r>
                    </a:p>
                  </a:txBody>
                  <a:tcPr marL="16000" marR="16000" marT="8000" marB="8000" anchor="ctr"/>
                </a:tc>
                <a:tc>
                  <a:txBody>
                    <a:bodyPr/>
                    <a:lstStyle/>
                    <a:p>
                      <a:r>
                        <a:rPr lang="en-US" sz="1000">
                          <a:latin typeface="Times New Roman" panose="02020603050405020304" pitchFamily="18" charset="0"/>
                          <a:cs typeface="Times New Roman" panose="02020603050405020304" pitchFamily="18" charset="0"/>
                        </a:rPr>
                        <a:t>Gan, F. – Remaining useful life prediction of aero-engine via GCSU layer</a:t>
                      </a:r>
                    </a:p>
                  </a:txBody>
                  <a:tcPr marL="16000" marR="16000" marT="8000" marB="8000" anchor="ctr"/>
                </a:tc>
                <a:tc>
                  <a:txBody>
                    <a:bodyPr/>
                    <a:lstStyle/>
                    <a:p>
                      <a:r>
                        <a:rPr lang="en-IN" sz="1000">
                          <a:latin typeface="Times New Roman" panose="02020603050405020304" pitchFamily="18" charset="0"/>
                          <a:cs typeface="Times New Roman" panose="02020603050405020304" pitchFamily="18" charset="0"/>
                        </a:rPr>
                        <a:t>GCSU Layer Integration</a:t>
                      </a:r>
                    </a:p>
                  </a:txBody>
                  <a:tcPr marL="16000" marR="16000" marT="8000" marB="8000" anchor="ctr"/>
                </a:tc>
                <a:tc>
                  <a:txBody>
                    <a:bodyPr/>
                    <a:lstStyle/>
                    <a:p>
                      <a:r>
                        <a:rPr lang="en-US" sz="1000" dirty="0">
                          <a:latin typeface="Times New Roman" panose="02020603050405020304" pitchFamily="18" charset="0"/>
                          <a:cs typeface="Times New Roman" panose="02020603050405020304" pitchFamily="18" charset="0"/>
                        </a:rPr>
                        <a:t>Developed a model incorporating GCSU layers for improved RUL prediction. (</a:t>
                      </a:r>
                      <a:r>
                        <a:rPr lang="en-US" sz="1000" dirty="0" err="1">
                          <a:latin typeface="Times New Roman" panose="02020603050405020304" pitchFamily="18" charset="0"/>
                          <a:cs typeface="Times New Roman" panose="02020603050405020304" pitchFamily="18" charset="0"/>
                          <a:hlinkClick r:id="rId7" tooltip="Remaining useful life prediction of aero-engine via ..."/>
                        </a:rPr>
                        <a:t>ScienceDirect</a:t>
                      </a:r>
                      <a:r>
                        <a:rPr lang="en-US" sz="1000" dirty="0">
                          <a:latin typeface="Times New Roman" panose="02020603050405020304" pitchFamily="18" charset="0"/>
                          <a:cs typeface="Times New Roman" panose="02020603050405020304" pitchFamily="18" charset="0"/>
                        </a:rPr>
                        <a:t>)</a:t>
                      </a:r>
                    </a:p>
                  </a:txBody>
                  <a:tcPr marL="16000" marR="16000" marT="8000" marB="8000" anchor="ctr"/>
                </a:tc>
                <a:extLst>
                  <a:ext uri="{0D108BD9-81ED-4DB2-BD59-A6C34878D82A}">
                    <a16:rowId xmlns:a16="http://schemas.microsoft.com/office/drawing/2014/main" val="1397314579"/>
                  </a:ext>
                </a:extLst>
              </a:tr>
            </a:tbl>
          </a:graphicData>
        </a:graphic>
      </p:graphicFrame>
      <p:sp>
        <p:nvSpPr>
          <p:cNvPr id="4" name="Rectangle 3"/>
          <p:cNvSpPr/>
          <p:nvPr/>
        </p:nvSpPr>
        <p:spPr>
          <a:xfrm>
            <a:off x="3531913" y="327056"/>
            <a:ext cx="1806905" cy="369332"/>
          </a:xfrm>
          <a:prstGeom prst="rect">
            <a:avLst/>
          </a:prstGeom>
        </p:spPr>
        <p:txBody>
          <a:bodyPr wrap="none">
            <a:spAutoFit/>
          </a:bodyPr>
          <a:lstStyle/>
          <a:p>
            <a:r>
              <a:rPr lang="en-GB" dirty="0">
                <a:latin typeface="Times New Roman" panose="02020603050405020304" pitchFamily="18" charset="0"/>
                <a:cs typeface="Times New Roman" panose="02020603050405020304" pitchFamily="18" charset="0"/>
              </a:rPr>
              <a:t>Literature Survey</a:t>
            </a:r>
            <a:endParaRPr lang="en-IN" dirty="0"/>
          </a:p>
        </p:txBody>
      </p:sp>
    </p:spTree>
    <p:extLst>
      <p:ext uri="{BB962C8B-B14F-4D97-AF65-F5344CB8AC3E}">
        <p14:creationId xmlns:p14="http://schemas.microsoft.com/office/powerpoint/2010/main" val="858185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462046" y="457602"/>
            <a:ext cx="824063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Significant </a:t>
            </a:r>
          </a:p>
          <a:p>
            <a:pPr algn="just">
              <a:lnSpc>
                <a:spcPct val="150000"/>
              </a:lnSpc>
            </a:pPr>
            <a:r>
              <a:rPr lang="en-US" sz="1400" dirty="0">
                <a:latin typeface="Times New Roman" panose="02020603050405020304" pitchFamily="18" charset="0"/>
                <a:cs typeface="Times New Roman" panose="02020603050405020304" pitchFamily="18" charset="0"/>
              </a:rPr>
              <a:t>The accurate prediction of Remaining Useful Life (RUL) in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is of paramount importance in modern aviation, where safety, reliability, and operational efficiency are critical. Unanticipated engine failures can result in severe safety hazards, unscheduled maintenance, and significant financial losses for airlines. Traditional maintenance strategies, such as scheduled or reactive maintenance, often fail to optimize the use of engine components, either causing premature replacements or overlooking impending failures. Predictive maintenance, enabled through advanced data-driven approaches, addresses these limitations by leveraging real-time and historical sensor data to forecast engine health </a:t>
            </a:r>
            <a:r>
              <a:rPr lang="en-US" sz="1400" dirty="0" smtClean="0">
                <a:latin typeface="Times New Roman" panose="02020603050405020304" pitchFamily="18" charset="0"/>
                <a:cs typeface="Times New Roman" panose="02020603050405020304" pitchFamily="18" charset="0"/>
              </a:rPr>
              <a:t>accurately. This </a:t>
            </a:r>
            <a:r>
              <a:rPr lang="en-US" sz="1400" dirty="0">
                <a:latin typeface="Times New Roman" panose="02020603050405020304" pitchFamily="18" charset="0"/>
                <a:cs typeface="Times New Roman" panose="02020603050405020304" pitchFamily="18" charset="0"/>
              </a:rPr>
              <a:t>project demonstrates the application of advanced machine learning techniques to predict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By integrating models such as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K-Nearest Neighbors (KNN), Feedforward Neural Networks (FNN), and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the study identifies the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as the most effective in producing reliable predictions.</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Rectangle 1"/>
          <p:cNvSpPr>
            <a:spLocks noChangeArrowheads="1"/>
          </p:cNvSpPr>
          <p:nvPr/>
        </p:nvSpPr>
        <p:spPr bwMode="auto">
          <a:xfrm>
            <a:off x="838438" y="1199266"/>
            <a:ext cx="7757690"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use of Explainable AI (XAI) techniques like SHAP adds a layer of transparency, allowing maintenance engineers and decision-makers to understand the contribution of each sensor and operational feature to the model’s predictions.</a:t>
            </a:r>
          </a:p>
          <a:p>
            <a:pPr algn="just">
              <a:lnSpc>
                <a:spcPct val="150000"/>
              </a:lnSpc>
            </a:pPr>
            <a:r>
              <a:rPr lang="en-US" sz="1400" dirty="0">
                <a:latin typeface="Times New Roman" panose="02020603050405020304" pitchFamily="18" charset="0"/>
                <a:cs typeface="Times New Roman" panose="02020603050405020304" pitchFamily="18" charset="0"/>
              </a:rPr>
              <a:t>The implementation as a Flask-based web application provides a user-friendly platform for real-time prediction, comparison of model performance, and actionable maintenance guidance. Furthermore, the system categorizes engine health into NORMAL, WARNING, and CRITICAL states, enabling proactive intervention and reducing operational risks. Overall, this work significantly contributes to the aviation industry by enhancing predictive maintenance capabilities, improving aircraft availability, reducing costs, and safeguarding passengers and crew through data-driven insights into engine performance.</a:t>
            </a:r>
          </a:p>
          <a:p>
            <a:pPr lvl="0" algn="just" defTabSz="914400" eaLnBrk="0" fontAlgn="base" hangingPunct="0">
              <a:lnSpc>
                <a:spcPct val="150000"/>
              </a:lnSpc>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565382" y="619299"/>
            <a:ext cx="1864613" cy="579967"/>
          </a:xfrm>
          <a:prstGeom prst="rect">
            <a:avLst/>
          </a:prstGeom>
        </p:spPr>
        <p:txBody>
          <a:bodyPr wrap="none">
            <a:spAutoFit/>
          </a:bodyPr>
          <a:lstStyle/>
          <a:p>
            <a:pPr lvl="0" algn="just" defTabSz="914400"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 Significant </a:t>
            </a:r>
          </a:p>
        </p:txBody>
      </p:sp>
    </p:spTree>
    <p:extLst>
      <p:ext uri="{BB962C8B-B14F-4D97-AF65-F5344CB8AC3E}">
        <p14:creationId xmlns:p14="http://schemas.microsoft.com/office/powerpoint/2010/main" val="12241053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598095"/>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00917" y="1047679"/>
            <a:ext cx="7291666" cy="3608488"/>
          </a:xfrm>
          <a:prstGeom prst="rect">
            <a:avLst/>
          </a:prstGeom>
          <a:noFill/>
        </p:spPr>
        <p:txBody>
          <a:bodyPr wrap="square" rtlCol="0">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proposed system is a data-driven, machine learning-based platform for predicting the Remaining Useful Life (RUL)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It collects sensor and operational data from engines and applies preprocessing and feature extraction techniques to prepare the data for modeling. Multiple machine learning models—including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MLP—are developed and evaluated for performance, with Extra Trees and MLP identified as the most reliable predictors. Explainable AI (XAI) using SHAP provides transparency, highlighting the influence of each feature on the RUL predictions. The system is deployed as a Flask web application, enabling users to upload datasets, generate real-time predictions, compare models, and categorize engine health into NORMAL, WARNING, or CRITICAL, along with actionable maintenance recommendations.</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38150" y="637774"/>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1"/>
          <p:cNvSpPr>
            <a:spLocks noChangeArrowheads="1"/>
          </p:cNvSpPr>
          <p:nvPr/>
        </p:nvSpPr>
        <p:spPr bwMode="auto">
          <a:xfrm>
            <a:off x="786420" y="1181272"/>
            <a:ext cx="7642878"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Proactive Maintenance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Enables timely maintenance interventions, reducing the likelihood of unexpected engine failures.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Cost Efficiency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Minimizes unnecessary part replacements and operational downtime, lowering overall maintenance costs.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Improved Safety and Reliability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Enhances aircraft operational safety by accurately predicting engine degradation trends.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Interpretability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SHAP-based Explainable AI provides transparency in model predictions, allowing engineers to understand feature contributions.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Decision Support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Flask-based web application facilitates real-time RUL predictions, model comparisons, and actionable maintenance recommendations.</a:t>
            </a:r>
          </a:p>
        </p:txBody>
      </p:sp>
    </p:spTree>
    <p:extLst>
      <p:ext uri="{BB962C8B-B14F-4D97-AF65-F5344CB8AC3E}">
        <p14:creationId xmlns:p14="http://schemas.microsoft.com/office/powerpoint/2010/main" val="13564710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59171" y="799208"/>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PROJECT FLOW</a:t>
            </a:r>
            <a:br>
              <a:rPr sz="2400" b="1" dirty="0" smtClean="0">
                <a:latin typeface="Times New Roman" panose="02020603050405020304" pitchFamily="18" charset="0"/>
                <a:cs typeface="Times New Roman" panose="02020603050405020304" pitchFamily="18" charset="0"/>
              </a:rPr>
            </a:b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645585" y="951609"/>
            <a:ext cx="5979003" cy="3640712"/>
          </a:xfrm>
          <a:prstGeom prst="rect">
            <a:avLst/>
          </a:prstGeom>
        </p:spPr>
      </p:pic>
    </p:spTree>
    <p:extLst>
      <p:ext uri="{BB962C8B-B14F-4D97-AF65-F5344CB8AC3E}">
        <p14:creationId xmlns:p14="http://schemas.microsoft.com/office/powerpoint/2010/main" val="2206174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smtClean="0">
                <a:latin typeface="Times New Roman" panose="02020603050405020304" pitchFamily="18" charset="0"/>
                <a:cs typeface="Times New Roman" panose="02020603050405020304" pitchFamily="18" charset="0"/>
              </a:rPr>
              <a:t>I5/Intel Processor, </a:t>
            </a:r>
            <a:r>
              <a:rPr lang="en-IN" sz="800" b="1" dirty="0" smtClean="0">
                <a:latin typeface="Times New Roman" panose="02020603050405020304" pitchFamily="18" charset="0"/>
                <a:cs typeface="Times New Roman" panose="02020603050405020304" pitchFamily="18" charset="0"/>
              </a:rPr>
              <a:t>RAM:</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8GB (</a:t>
            </a:r>
            <a:r>
              <a:rPr lang="en-IN" sz="800" dirty="0" smtClean="0">
                <a:latin typeface="Times New Roman" panose="02020603050405020304" pitchFamily="18" charset="0"/>
                <a:cs typeface="Times New Roman" panose="02020603050405020304" pitchFamily="18" charset="0"/>
              </a:rPr>
              <a:t>min), </a:t>
            </a:r>
            <a:r>
              <a:rPr lang="en-IN" sz="800" b="1" dirty="0" smtClean="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a:t>
            </a:r>
            <a:r>
              <a:rPr lang="en-IN" sz="800" dirty="0" smtClean="0">
                <a:latin typeface="Times New Roman" panose="02020603050405020304" pitchFamily="18" charset="0"/>
                <a:cs typeface="Times New Roman" panose="02020603050405020304" pitchFamily="18" charset="0"/>
              </a:rPr>
              <a:t>GB</a:t>
            </a:r>
            <a:r>
              <a:rPr lang="en-IN" sz="800" b="1" dirty="0" smtClean="0">
                <a:latin typeface="Times New Roman" panose="02020603050405020304" pitchFamily="18" charset="0"/>
                <a:cs typeface="Times New Roman" panose="02020603050405020304" pitchFamily="18" charset="0"/>
              </a:rPr>
              <a:t>, Key Board:</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Standard Windows </a:t>
            </a:r>
            <a:r>
              <a:rPr lang="en-IN" sz="800" dirty="0" smtClean="0">
                <a:latin typeface="Times New Roman" panose="02020603050405020304" pitchFamily="18" charset="0"/>
                <a:cs typeface="Times New Roman" panose="02020603050405020304" pitchFamily="18" charset="0"/>
              </a:rPr>
              <a:t>Keyboard, </a:t>
            </a:r>
            <a:r>
              <a:rPr lang="en-IN" sz="800" b="1" dirty="0" smtClean="0">
                <a:latin typeface="Times New Roman" panose="02020603050405020304" pitchFamily="18" charset="0"/>
                <a:cs typeface="Times New Roman" panose="02020603050405020304" pitchFamily="18" charset="0"/>
              </a:rPr>
              <a:t>Mouse:</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Two or Three Button </a:t>
            </a:r>
            <a:r>
              <a:rPr lang="en-IN" sz="800" dirty="0" smtClean="0">
                <a:latin typeface="Times New Roman" panose="02020603050405020304" pitchFamily="18" charset="0"/>
                <a:cs typeface="Times New Roman" panose="02020603050405020304" pitchFamily="18" charset="0"/>
              </a:rPr>
              <a:t>Mouse)</a:t>
            </a:r>
            <a:endParaRPr lang="en-IN" sz="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smtClean="0">
                <a:latin typeface="Times New Roman" panose="02020603050405020304" pitchFamily="18" charset="0"/>
                <a:cs typeface="Times New Roman" panose="02020603050405020304" pitchFamily="18" charset="0"/>
              </a:rPr>
              <a:t>(</a:t>
            </a:r>
            <a:r>
              <a:rPr lang="en-US" sz="800" b="1" dirty="0" smtClean="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a:t>
            </a:r>
            <a:r>
              <a:rPr lang="en-US" sz="800" dirty="0" smtClean="0">
                <a:latin typeface="Times New Roman" panose="02020603050405020304" pitchFamily="18" charset="0"/>
                <a:cs typeface="Times New Roman" panose="02020603050405020304" pitchFamily="18" charset="0"/>
              </a:rPr>
              <a:t>10, </a:t>
            </a:r>
            <a:r>
              <a:rPr lang="en-US" sz="800" b="1" dirty="0" smtClean="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a:t>
            </a:r>
            <a:r>
              <a:rPr lang="en-US" sz="800" dirty="0" smtClean="0">
                <a:latin typeface="Times New Roman" panose="02020603050405020304" pitchFamily="18" charset="0"/>
                <a:cs typeface="Times New Roman" panose="02020603050405020304" pitchFamily="18" charset="0"/>
              </a:rPr>
              <a:t>3.10.8, </a:t>
            </a:r>
            <a:r>
              <a:rPr lang="en-US" sz="800" b="1" dirty="0" smtClean="0">
                <a:latin typeface="Times New Roman" panose="02020603050405020304" pitchFamily="18" charset="0"/>
                <a:cs typeface="Times New Roman" panose="02020603050405020304" pitchFamily="18" charset="0"/>
              </a:rPr>
              <a:t>IDE: </a:t>
            </a:r>
            <a:r>
              <a:rPr lang="en-US" sz="800" dirty="0" smtClean="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Django,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Scikit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-learn, Pandas,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Imblearn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and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Matplotlib</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645585" y="1289269"/>
            <a:ext cx="6085841" cy="3272571"/>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568981"/>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642342" y="1373978"/>
            <a:ext cx="7807975" cy="3584713"/>
          </a:xfrm>
          <a:prstGeom prst="rect">
            <a:avLst/>
          </a:prstGeom>
        </p:spPr>
        <p:txBody>
          <a:bodyPr spcFirstLastPara="1" wrap="square" lIns="91425" tIns="91425" rIns="91425" bIns="91425" anchor="t" anchorCtr="0">
            <a:noAutofit/>
          </a:bodyPr>
          <a:lstStyle/>
          <a:p>
            <a:pPr marL="146050" indent="0" algn="just">
              <a:lnSpc>
                <a:spcPct val="100000"/>
              </a:lnSpc>
              <a:buNone/>
            </a:pPr>
            <a:r>
              <a:rPr lang="en-US" sz="1400" dirty="0">
                <a:solidFill>
                  <a:schemeClr val="tx1"/>
                </a:solidFill>
                <a:latin typeface="Times New Roman" panose="02020603050405020304" pitchFamily="18" charset="0"/>
                <a:cs typeface="Times New Roman" panose="02020603050405020304" pitchFamily="18" charset="0"/>
              </a:rPr>
              <a:t>Despite extensive research in the prediction of Remaining Useful Life (RUL) for </a:t>
            </a:r>
            <a:r>
              <a:rPr lang="en-US" sz="1400" dirty="0" err="1">
                <a:solidFill>
                  <a:schemeClr val="tx1"/>
                </a:solidFill>
                <a:latin typeface="Times New Roman" panose="02020603050405020304" pitchFamily="18" charset="0"/>
                <a:cs typeface="Times New Roman" panose="02020603050405020304" pitchFamily="18" charset="0"/>
              </a:rPr>
              <a:t>aeroengines</a:t>
            </a:r>
            <a:r>
              <a:rPr lang="en-US" sz="1400" dirty="0">
                <a:solidFill>
                  <a:schemeClr val="tx1"/>
                </a:solidFill>
                <a:latin typeface="Times New Roman" panose="02020603050405020304" pitchFamily="18" charset="0"/>
                <a:cs typeface="Times New Roman" panose="02020603050405020304" pitchFamily="18" charset="0"/>
              </a:rPr>
              <a:t>, several gaps persist that limit the full potential of predictive maintenance in aviation. Traditional approaches often rely on statistical or physics-based models, which may not efficiently capture the complex nonlinear relationships present in high-dimensional sensor and operational datasets. While recent studies have employed machine learning and deep learning models such as Random </a:t>
            </a:r>
            <a:r>
              <a:rPr lang="en-US" sz="1400" dirty="0" smtClean="0">
                <a:solidFill>
                  <a:schemeClr val="tx1"/>
                </a:solidFill>
                <a:latin typeface="Times New Roman" panose="02020603050405020304" pitchFamily="18" charset="0"/>
                <a:cs typeface="Times New Roman" panose="02020603050405020304" pitchFamily="18" charset="0"/>
              </a:rPr>
              <a:t>Forest</a:t>
            </a:r>
            <a:r>
              <a:rPr lang="en-US" sz="1400" dirty="0">
                <a:solidFill>
                  <a:schemeClr val="tx1"/>
                </a:solidFill>
                <a:latin typeface="Times New Roman" panose="02020603050405020304" pitchFamily="18" charset="0"/>
                <a:cs typeface="Times New Roman" panose="02020603050405020304" pitchFamily="18" charset="0"/>
              </a:rPr>
              <a:t>, Gradient Boosting, and LSTM networks, many of these approaches focus primarily on predictive accuracy without addressing model interpretability. This lack of transparency creates challenges for maintenance engineers who need to understand the factors driving predictions to make informed </a:t>
            </a:r>
            <a:r>
              <a:rPr lang="en-US" sz="1400" dirty="0" smtClean="0">
                <a:solidFill>
                  <a:schemeClr val="tx1"/>
                </a:solidFill>
                <a:latin typeface="Times New Roman" panose="02020603050405020304" pitchFamily="18" charset="0"/>
                <a:cs typeface="Times New Roman" panose="02020603050405020304" pitchFamily="18" charset="0"/>
              </a:rPr>
              <a:t>decisions.</a:t>
            </a:r>
          </a:p>
          <a:p>
            <a:pPr marL="146050" indent="0" algn="just">
              <a:lnSpc>
                <a:spcPct val="100000"/>
              </a:lnSpc>
              <a:buNone/>
            </a:pPr>
            <a:r>
              <a:rPr lang="en-US" sz="1400" dirty="0" smtClean="0">
                <a:solidFill>
                  <a:schemeClr val="tx1"/>
                </a:solidFill>
                <a:latin typeface="Times New Roman" panose="02020603050405020304" pitchFamily="18" charset="0"/>
                <a:cs typeface="Times New Roman" panose="02020603050405020304" pitchFamily="18" charset="0"/>
              </a:rPr>
              <a:t>Another significant gap is the integration of RUL prediction models into practical, user-friendly platforms for real-time deployment. Most studies remain at a theoretical or experimental stage, with limited focus on web-based or application-level solutions that allow operators to upload datasets, generate predictions, and compare multiple models simultaneously. </a:t>
            </a:r>
          </a:p>
          <a:p>
            <a:pPr marL="146050" indent="0" algn="just">
              <a:lnSpc>
                <a:spcPct val="10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18</a:t>
            </a:fld>
            <a:endParaRPr lang="en-US" dirty="0"/>
          </a:p>
        </p:txBody>
      </p:sp>
      <p:sp>
        <p:nvSpPr>
          <p:cNvPr id="3" name="Rectangle 2"/>
          <p:cNvSpPr/>
          <p:nvPr/>
        </p:nvSpPr>
        <p:spPr>
          <a:xfrm>
            <a:off x="860729" y="1267856"/>
            <a:ext cx="7684851" cy="3393045"/>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Additionally, health state categorization—translating continuous RUL predictions into actionable maintenance states such as NORMAL, WARNING, or CRITICAL—is often not systematically implemented, reducing the operational usability of these models.</a:t>
            </a:r>
          </a:p>
          <a:p>
            <a:pPr algn="just"/>
            <a:r>
              <a:rPr lang="en-US" sz="1400" dirty="0">
                <a:latin typeface="Times New Roman" panose="02020603050405020304" pitchFamily="18" charset="0"/>
                <a:cs typeface="Times New Roman" panose="02020603050405020304" pitchFamily="18" charset="0"/>
              </a:rPr>
              <a:t>Furthermore, while various machine learning models have been explored, few studies conduct a comparative analysis emphasizing the performance of ensemble tree-based models like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neural architectures like Multi-Layer </a:t>
            </a:r>
            <a:r>
              <a:rPr lang="en-US" sz="1400" dirty="0" err="1">
                <a:latin typeface="Times New Roman" panose="02020603050405020304" pitchFamily="18" charset="0"/>
                <a:cs typeface="Times New Roman" panose="02020603050405020304" pitchFamily="18" charset="0"/>
              </a:rPr>
              <a:t>Perceptrons</a:t>
            </a:r>
            <a:r>
              <a:rPr lang="en-US" sz="1400" dirty="0">
                <a:latin typeface="Times New Roman" panose="02020603050405020304" pitchFamily="18" charset="0"/>
                <a:cs typeface="Times New Roman" panose="02020603050405020304" pitchFamily="18" charset="0"/>
              </a:rPr>
              <a:t> (MLP) in combination with explainable AI techniques. The integration of SHAP-based interpretability with high-performing models is still limited in the literature, leaving a gap in understanding feature contributions for critical maintenance decisions.</a:t>
            </a:r>
          </a:p>
          <a:p>
            <a:pPr algn="just"/>
            <a:r>
              <a:rPr lang="en-US" sz="1400" dirty="0">
                <a:latin typeface="Times New Roman" panose="02020603050405020304" pitchFamily="18" charset="0"/>
                <a:cs typeface="Times New Roman" panose="02020603050405020304" pitchFamily="18" charset="0"/>
              </a:rPr>
              <a:t>This project addresses these gaps by combining high-accuracy predictive models (Extra Trees and MLP) with SHAP </a:t>
            </a:r>
            <a:r>
              <a:rPr lang="en-US" sz="1400" dirty="0" err="1">
                <a:latin typeface="Times New Roman" panose="02020603050405020304" pitchFamily="18" charset="0"/>
                <a:cs typeface="Times New Roman" panose="02020603050405020304" pitchFamily="18" charset="0"/>
              </a:rPr>
              <a:t>explainability</a:t>
            </a:r>
            <a:r>
              <a:rPr lang="en-US" sz="1400" dirty="0">
                <a:latin typeface="Times New Roman" panose="02020603050405020304" pitchFamily="18" charset="0"/>
                <a:cs typeface="Times New Roman" panose="02020603050405020304" pitchFamily="18" charset="0"/>
              </a:rPr>
              <a:t>, deploying the solution as a Flask-based application for real-time usability, and incorporating health state categorization. Thus, it contributes both technically and operationally to aviation predictive maintenance, bridging the gap between advanced RUL prediction and practical implementation.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3126023" y="614167"/>
            <a:ext cx="3154261"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Research Gap analysis</a:t>
            </a:r>
            <a:endParaRPr lang="en-IN" sz="2400" dirty="0"/>
          </a:p>
        </p:txBody>
      </p:sp>
    </p:spTree>
    <p:extLst>
      <p:ext uri="{BB962C8B-B14F-4D97-AF65-F5344CB8AC3E}">
        <p14:creationId xmlns:p14="http://schemas.microsoft.com/office/powerpoint/2010/main" val="12281162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19</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154551"/>
            <a:ext cx="8272128" cy="1558760"/>
          </a:xfrm>
          <a:prstGeom prst="rect">
            <a:avLst/>
          </a:prstGeom>
        </p:spPr>
        <p:txBody>
          <a:bodyPr wrap="square">
            <a:spAutoFit/>
          </a:bodyPr>
          <a:lstStyle/>
          <a:p>
            <a:pPr algn="just">
              <a:lnSpc>
                <a:spcPct val="107000"/>
              </a:lnSpc>
              <a:spcBef>
                <a:spcPts val="1200"/>
              </a:spcBef>
              <a:spcAft>
                <a:spcPts val="800"/>
              </a:spcAft>
            </a:pPr>
            <a:endParaRPr lang="en-US" sz="1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1400" b="1" dirty="0" smtClean="0">
                <a:latin typeface="Times New Roman" panose="02020603050405020304" pitchFamily="18" charset="0"/>
                <a:cs typeface="Times New Roman" panose="02020603050405020304" pitchFamily="18" charset="0"/>
              </a:rPr>
              <a:t>System Modules</a:t>
            </a:r>
          </a:p>
          <a:p>
            <a:pPr algn="just"/>
            <a:endParaRPr lang="en-US" sz="1400" dirty="0" smtClean="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419927" y="1257432"/>
            <a:ext cx="8272128" cy="3257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1.1 Data Upload and Acquisition Module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module is accessible via the /upload route and supports CSV-based dataset uploads for clinical telemetry related to battery-powered medical devices. Key features include cycle index, discharge time, voltage thresholds, and charging durations. Pandas is used to parse the uploaded data, and the first 500 rows are displayed in a structured preview. This allows clinicians or researchers to verify the input format before proceeding with model evaluation or prediction. The same form can also be bypassed for real-time manual data entry through the /prediction route.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1.2 Data Validation and Preprocessing Module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All user inputs (manual or from datasets) are checked for validity to ensure type correctness (e.g., float), non-null values, and safe ranges (e.g., voltage and time durations). This step is critical to preventing inference errors and maintaining prediction accuracy. Backend logic ensures robust parsing, and meaningful feedback is provided in case of user error via flash() messages.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20</a:t>
            </a:fld>
            <a:endParaRPr lang="en-US" dirty="0"/>
          </a:p>
        </p:txBody>
      </p:sp>
      <p:sp>
        <p:nvSpPr>
          <p:cNvPr id="3" name="Rectangle 2"/>
          <p:cNvSpPr/>
          <p:nvPr/>
        </p:nvSpPr>
        <p:spPr>
          <a:xfrm>
            <a:off x="419927" y="545711"/>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629749"/>
            <a:ext cx="8261618" cy="1296830"/>
          </a:xfrm>
          <a:prstGeom prst="rect">
            <a:avLst/>
          </a:prstGeom>
        </p:spPr>
        <p:txBody>
          <a:bodyPr wrap="square">
            <a:spAutoFit/>
          </a:bodyPr>
          <a:lstStyle/>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 System:</a:t>
            </a:r>
            <a:endParaRPr lang="en-IN" sz="1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19927" y="1433966"/>
            <a:ext cx="8019880" cy="261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1.3 Model Selection and Evaluation Module</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the /model route, users can choose from multiple machine learning models: Random Forest, Gradient Boosting, Decision Tree, KNN, MLP, LSTM, and SVR. Each model is pre-evaluated and associated with MSE and R² metrics that are dynamically displayed. This interface helps users select the most suitable model for medical device RUL prediction, enhancing transparency in performance comparison and fostering user trust.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1.4 Prediction and Inference Module</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module is the heart of the application, built into the /prediction route. After capturing eight telemetry parameters, the input is passed into a serialized Decision Tree model loaded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model returns a numerical prediction representing the device’s RUL. The prediction is processed and presented along with health classification (e.g., Healthy, Observation, Critical) on value_predict.html.</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086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Rectangle 2"/>
          <p:cNvSpPr/>
          <p:nvPr/>
        </p:nvSpPr>
        <p:spPr>
          <a:xfrm>
            <a:off x="419927" y="545711"/>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545711"/>
            <a:ext cx="8167025" cy="1296830"/>
          </a:xfrm>
          <a:prstGeom prst="rect">
            <a:avLst/>
          </a:prstGeom>
        </p:spPr>
        <p:txBody>
          <a:bodyPr wrap="square">
            <a:spAutoFit/>
          </a:bodyPr>
          <a:lstStyle/>
          <a:p>
            <a:pPr algn="just">
              <a:lnSpc>
                <a:spcPct val="107000"/>
              </a:lnSpc>
              <a:spcBef>
                <a:spcPts val="1200"/>
              </a:spcBef>
              <a:spcAft>
                <a:spcPts val="800"/>
              </a:spcAft>
            </a:pPr>
            <a:endParaRPr lang="en-US" sz="14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System:</a:t>
            </a:r>
            <a:endParaRPr lang="en-IN" sz="1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19927" y="1261318"/>
            <a:ext cx="8167025" cy="3257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1.5 Rule-Based Classification and Health Status Mapping</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 enhance usability and aid in diagnosis, the RUL prediction is mapped into actionable categories:</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Healthy</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RUL &gt; 1000</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Observation Needed</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500 &lt; RUL ≤ 1000</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Critical</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RUL ≤ 500</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logic allows doctors or technicians to interpret raw prediction data in an intuitive, patient-focused manner.</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1.6 Security and Session Management</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application supports secure login and registration through /login and /register routes. Key security features include:</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CSRF protection</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via Flask-WTF</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Session handling</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for all sensitive routes</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Flash-based feedback</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for events like invalid login or duplicate email</a:t>
            </a:r>
            <a:b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Currently, passwords are stored in plaintext but future enhancements include password hashing with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bcrypt</a:t>
            </a: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and token-based email verification.</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255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22</a:t>
            </a:fld>
            <a:endParaRPr lang="en-US" dirty="0"/>
          </a:p>
        </p:txBody>
      </p:sp>
      <p:sp>
        <p:nvSpPr>
          <p:cNvPr id="3" name="Rectangle 2"/>
          <p:cNvSpPr/>
          <p:nvPr/>
        </p:nvSpPr>
        <p:spPr>
          <a:xfrm>
            <a:off x="458325" y="542587"/>
            <a:ext cx="8355725" cy="799642"/>
          </a:xfrm>
          <a:prstGeom prst="rect">
            <a:avLst/>
          </a:prstGeom>
        </p:spPr>
        <p:txBody>
          <a:bodyPr wrap="square">
            <a:spAutoFit/>
          </a:bodyPr>
          <a:lstStyle/>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2</a:t>
            </a:r>
            <a:r>
              <a:rPr lang="en-US" sz="1400" b="1" dirty="0">
                <a:latin typeface="Times New Roman" panose="02020603050405020304" pitchFamily="18" charset="0"/>
                <a:ea typeface="Calibri" panose="020F0502020204030204" pitchFamily="34" charset="0"/>
                <a:cs typeface="Times New Roman" panose="02020603050405020304" pitchFamily="18" charset="0"/>
              </a:rPr>
              <a:t>. User</a:t>
            </a: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p:cNvSpPr>
            <a:spLocks noChangeArrowheads="1"/>
          </p:cNvSpPr>
          <p:nvPr/>
        </p:nvSpPr>
        <p:spPr bwMode="auto">
          <a:xfrm>
            <a:off x="458325" y="942408"/>
            <a:ext cx="8002503" cy="3580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2.1 Registration</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/register module checks for existing emails (case-insensitive) and validates password match before creating a new user entry in the MySQL user3 table.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2.2 Login and Session Handling</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Users authenticate via the /login route. Sessions restrict access to private pages like /upload, /prediction, and /model, ensuring that only logged-in users can interact with the system securely.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2.3 Dataset Upload and Manual Input</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Users can upload .csv files through the /upload interface or manually input data through /prediction for real-time predictions.</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23</a:t>
            </a:fld>
            <a:endParaRPr lang="en-US" dirty="0"/>
          </a:p>
        </p:txBody>
      </p:sp>
      <p:sp>
        <p:nvSpPr>
          <p:cNvPr id="4" name="Rectangle 1"/>
          <p:cNvSpPr>
            <a:spLocks noChangeArrowheads="1"/>
          </p:cNvSpPr>
          <p:nvPr/>
        </p:nvSpPr>
        <p:spPr bwMode="auto">
          <a:xfrm>
            <a:off x="472966" y="1039872"/>
            <a:ext cx="8019393" cy="3541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2.4 Model Evaluation Interface</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/model route displays a dropdown of available models. When selected, the MSE and R² scores are displayed, helping the user choose the most accurate model.</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2.5 Prediction Output Visualization</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Upon submitting telemetry inputs, the predicted RUL is displayed along with its classification and interpretation in value_predict.html. This presentation style ensures clarity and supports real-time medical decision-making.</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2.6 Logout and Session Termination</a:t>
            </a:r>
            <a:endParaRPr kumimoji="0" lang="en-US" altLang="en-US" sz="1400" b="0" i="0" u="none" strike="noStrike" cap="none" normalizeH="0" baseline="0" dirty="0" smtClean="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Secure logout ensures that session data is cleared, maintaining user privacy and access control.</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472966" y="569102"/>
            <a:ext cx="4572000" cy="799642"/>
          </a:xfrm>
          <a:prstGeom prst="rect">
            <a:avLst/>
          </a:prstGeom>
        </p:spPr>
        <p:txBody>
          <a:bodyPr>
            <a:spAutoFit/>
          </a:bodyPr>
          <a:lstStyle/>
          <a:p>
            <a:pPr algn="just">
              <a:lnSpc>
                <a:spcPct val="107000"/>
              </a:lnSpc>
              <a:spcBef>
                <a:spcPts val="1200"/>
              </a:spcBef>
              <a:spcAft>
                <a:spcPts val="800"/>
              </a:spcAft>
            </a:pPr>
            <a:r>
              <a:rPr lang="en-US" sz="1400" b="1" dirty="0">
                <a:latin typeface="Times New Roman" panose="02020603050405020304" pitchFamily="18" charset="0"/>
                <a:ea typeface="Calibri" panose="020F0502020204030204" pitchFamily="34" charset="0"/>
                <a:cs typeface="Times New Roman" panose="02020603050405020304" pitchFamily="18" charset="0"/>
              </a:rPr>
              <a:t>2. User:</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Data Analysis</a:t>
            </a:r>
            <a:endParaRPr lang="en-US" b="1" dirty="0">
              <a:latin typeface="Times New Roman" panose="02020603050405020304" pitchFamily="18" charset="0"/>
              <a:cs typeface="Times New Roman" panose="02020603050405020304" pitchFamily="18" charset="0"/>
            </a:endParaRP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68313"/>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509691" y="723663"/>
            <a:ext cx="818236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The dataset used in this project captures sensor and operational telemetry data from multiple </a:t>
            </a:r>
            <a:r>
              <a:rPr lang="en-US" altLang="en-US" sz="1400" dirty="0" err="1">
                <a:latin typeface="Times New Roman" panose="02020603050405020304" pitchFamily="18" charset="0"/>
                <a:cs typeface="Times New Roman" panose="02020603050405020304" pitchFamily="18" charset="0"/>
              </a:rPr>
              <a:t>aeroengines</a:t>
            </a:r>
            <a:r>
              <a:rPr lang="en-US" altLang="en-US" sz="1400" dirty="0">
                <a:latin typeface="Times New Roman" panose="02020603050405020304" pitchFamily="18" charset="0"/>
                <a:cs typeface="Times New Roman" panose="02020603050405020304" pitchFamily="18" charset="0"/>
              </a:rPr>
              <a:t> and serves as the foundation for predicting the Remaining Useful Life (</a:t>
            </a:r>
            <a:r>
              <a:rPr lang="en-US" altLang="en-US" sz="1400" dirty="0" smtClean="0">
                <a:latin typeface="Times New Roman" panose="02020603050405020304" pitchFamily="18" charset="0"/>
                <a:cs typeface="Times New Roman" panose="02020603050405020304" pitchFamily="18" charset="0"/>
              </a:rPr>
              <a:t>RUL</a:t>
            </a: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Columns and Features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cycle – This column represents the operating cycle number and acts as a temporal index, enabling the models to track the progression of engine wear and degradation over time. It is essential for capturing the sequential nature of engine health.</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 to sensor_19 – These columns correspond to various engine sensors recording key operational metrics: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 sensor_2, sensor_3, sensor_4 – Capture core engine parameters such as temperature, pressure, and flow rates within different subsystems. These readings reflect the primary operational state of the engine.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sensor_7, sensor_8 – Represent auxiliary mechanical parameters, including vibrations and rotational speed, which are indicative of mechanical wear or misalignment.</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sensor_12, sensor_14, sensor_15, sensor_18, sensor_19 – Include additional operational measures that detect subtle anomalies or deviations from normal performance, which may signal early stages of engine degradation.</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7150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583756"/>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509691" y="939106"/>
            <a:ext cx="818236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Numerical Values: All sensor readings are represented as floating-point numbers, normalized between 0 and 1. This normalization ensures uniform scaling and improves the stability and convergence of machine learning algorithms.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Temporal Sequencing: The dataset records sequential cycles for each engine, allowing predictive models to identify trends and patterns in engine health over time. Time-series analysis is crucial for accurate RUL estimation.</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High Dimensionality: With multiple sensor readings per cycle, the dataset provides a multidimensional view of engine performance, supporting robust and reliable model learning.</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Target Variable (RUL): Although not shown in the sample snippet, the dataset includes the Remaining Useful Life as the target variable. RUL represents the number of cycles remaining before the engine reaches a predefined failure or maintenance threshold, which is the primary prediction objective.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90118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546577"/>
            <a:ext cx="7713900" cy="710700"/>
          </a:xfrm>
          <a:prstGeom prst="rect">
            <a:avLst/>
          </a:prstGeom>
          <a:ln>
            <a:noFill/>
          </a:ln>
        </p:spPr>
        <p:txBody>
          <a:bodyPr spcFirstLastPara="1" wrap="square" lIns="91425" tIns="91425" rIns="91425" bIns="91425" anchor="t" anchorCtr="0">
            <a:noAutofit/>
          </a:bodyPr>
          <a:lstStyle/>
          <a:p>
            <a:pPr lvl="0"/>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1.Data set Description:</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r>
            <a:br>
              <a:rPr lang="en-US" sz="16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br>
            <a:endParaRPr lang="en-IN" sz="16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4" name="Rectangle 1"/>
          <p:cNvSpPr>
            <a:spLocks noChangeArrowheads="1"/>
          </p:cNvSpPr>
          <p:nvPr/>
        </p:nvSpPr>
        <p:spPr bwMode="auto">
          <a:xfrm>
            <a:off x="509691" y="1154549"/>
            <a:ext cx="8182364"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Usage in Predictive Maintenance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Training: Sensor values serve as input features for machine learning models such as Extra Trees </a:t>
            </a:r>
            <a:r>
              <a:rPr lang="en-US" altLang="en-US" sz="1400" dirty="0" err="1">
                <a:latin typeface="Times New Roman" panose="02020603050405020304" pitchFamily="18" charset="0"/>
                <a:cs typeface="Times New Roman" panose="02020603050405020304" pitchFamily="18" charset="0"/>
              </a:rPr>
              <a:t>Regressor</a:t>
            </a:r>
            <a:r>
              <a:rPr lang="en-US" altLang="en-US" sz="1400" dirty="0">
                <a:latin typeface="Times New Roman" panose="02020603050405020304" pitchFamily="18" charset="0"/>
                <a:cs typeface="Times New Roman" panose="02020603050405020304" pitchFamily="18" charset="0"/>
              </a:rPr>
              <a:t>, MLP, Random Forest, and Gradient Boosting. Models learn to map these features to the RUL.</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Evaluation: The predictive performance is assessed using metrics like Mean Squared Error (MSE) and R² Score, ensuring models can accurately forecast engine life.</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err="1">
                <a:latin typeface="Times New Roman" panose="02020603050405020304" pitchFamily="18" charset="0"/>
                <a:cs typeface="Times New Roman" panose="02020603050405020304" pitchFamily="18" charset="0"/>
              </a:rPr>
              <a:t>Explainability</a:t>
            </a:r>
            <a:r>
              <a:rPr lang="en-US" altLang="en-US" sz="1400" dirty="0">
                <a:latin typeface="Times New Roman" panose="02020603050405020304" pitchFamily="18" charset="0"/>
                <a:cs typeface="Times New Roman" panose="02020603050405020304" pitchFamily="18" charset="0"/>
              </a:rPr>
              <a:t>: Techniques like SHAP are applied to identify which sensors have the greatest impact on predictions, providing interpretable insights for maintenance engineers.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This dataset is crucial for developing a data-driven predictive maintenance framework that improves aviation safety, reduces operational costs, and enables proactive scheduling of maintenance activities.</a:t>
            </a:r>
          </a:p>
          <a:p>
            <a:pPr lvl="0" defTabSz="91440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59962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962322"/>
            <a:ext cx="5718232" cy="307777"/>
          </a:xfrm>
          <a:prstGeom prst="rect">
            <a:avLst/>
          </a:prstGeom>
        </p:spPr>
        <p:txBody>
          <a:bodyPr wrap="none">
            <a:spAutoFit/>
          </a:bodyPr>
          <a:lstStyle/>
          <a:p>
            <a:r>
              <a:rPr lang="en-US" sz="1400" dirty="0" smtClean="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sp>
        <p:nvSpPr>
          <p:cNvPr id="10" name="Rectangle 9"/>
          <p:cNvSpPr/>
          <p:nvPr/>
        </p:nvSpPr>
        <p:spPr>
          <a:xfrm>
            <a:off x="509691" y="2750706"/>
            <a:ext cx="6844747" cy="307777"/>
          </a:xfrm>
          <a:prstGeom prst="rect">
            <a:avLst/>
          </a:prstGeom>
        </p:spPr>
        <p:txBody>
          <a:bodyPr wrap="square">
            <a:spAutoFit/>
          </a:bodyPr>
          <a:lstStyle/>
          <a:p>
            <a:r>
              <a:rPr lang="en-US" sz="1400" dirty="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a:t>
            </a:r>
            <a:r>
              <a:rPr lang="en-US" sz="1400" dirty="0" smtClean="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Bottom </a:t>
            </a:r>
            <a:r>
              <a:rPr lang="en-US" sz="1400" dirty="0">
                <a:solidFill>
                  <a:schemeClr val="dk1"/>
                </a:solidFill>
                <a:latin typeface="Times New Roman" panose="02020603050405020304" pitchFamily="18" charset="0"/>
                <a:ea typeface="Poppins Black" panose="00000800000000000000"/>
                <a:cs typeface="Times New Roman" panose="02020603050405020304" pitchFamily="18" charset="0"/>
                <a:sym typeface="Poppins Black" panose="00000800000000000000"/>
              </a:rPr>
              <a:t>5 rows of the dataset here we see the how was the dataset values.</a:t>
            </a:r>
            <a:endParaRPr lang="en-IN" sz="1400" dirty="0"/>
          </a:p>
        </p:txBody>
      </p:sp>
      <p:pic>
        <p:nvPicPr>
          <p:cNvPr id="2" name="Picture 1"/>
          <p:cNvPicPr>
            <a:picLocks noChangeAspect="1"/>
          </p:cNvPicPr>
          <p:nvPr/>
        </p:nvPicPr>
        <p:blipFill>
          <a:blip r:embed="rId3"/>
          <a:stretch>
            <a:fillRect/>
          </a:stretch>
        </p:blipFill>
        <p:spPr>
          <a:xfrm>
            <a:off x="509691" y="1242354"/>
            <a:ext cx="8069583" cy="1508352"/>
          </a:xfrm>
          <a:prstGeom prst="rect">
            <a:avLst/>
          </a:prstGeom>
        </p:spPr>
      </p:pic>
      <p:pic>
        <p:nvPicPr>
          <p:cNvPr id="3" name="Picture 2"/>
          <p:cNvPicPr>
            <a:picLocks noChangeAspect="1"/>
          </p:cNvPicPr>
          <p:nvPr/>
        </p:nvPicPr>
        <p:blipFill>
          <a:blip r:embed="rId4"/>
          <a:stretch>
            <a:fillRect/>
          </a:stretch>
        </p:blipFill>
        <p:spPr>
          <a:xfrm>
            <a:off x="586501" y="3058483"/>
            <a:ext cx="7992773" cy="168768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pic>
        <p:nvPicPr>
          <p:cNvPr id="2" name="Picture 1"/>
          <p:cNvPicPr>
            <a:picLocks noChangeAspect="1"/>
          </p:cNvPicPr>
          <p:nvPr/>
        </p:nvPicPr>
        <p:blipFill>
          <a:blip r:embed="rId3"/>
          <a:stretch>
            <a:fillRect/>
          </a:stretch>
        </p:blipFill>
        <p:spPr>
          <a:xfrm>
            <a:off x="895220" y="1065549"/>
            <a:ext cx="7328371" cy="3749651"/>
          </a:xfrm>
          <a:prstGeom prst="rect">
            <a:avLst/>
          </a:prstGeom>
        </p:spPr>
      </p:pic>
    </p:spTree>
    <p:extLst>
      <p:ext uri="{BB962C8B-B14F-4D97-AF65-F5344CB8AC3E}">
        <p14:creationId xmlns:p14="http://schemas.microsoft.com/office/powerpoint/2010/main" val="36566247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pic>
        <p:nvPicPr>
          <p:cNvPr id="3" name="Picture 2"/>
          <p:cNvPicPr>
            <a:picLocks noChangeAspect="1"/>
          </p:cNvPicPr>
          <p:nvPr/>
        </p:nvPicPr>
        <p:blipFill>
          <a:blip r:embed="rId3"/>
          <a:stretch>
            <a:fillRect/>
          </a:stretch>
        </p:blipFill>
        <p:spPr>
          <a:xfrm>
            <a:off x="878446" y="1065549"/>
            <a:ext cx="7345145" cy="3647827"/>
          </a:xfrm>
          <a:prstGeom prst="rect">
            <a:avLst/>
          </a:prstGeom>
        </p:spPr>
      </p:pic>
    </p:spTree>
    <p:extLst>
      <p:ext uri="{BB962C8B-B14F-4D97-AF65-F5344CB8AC3E}">
        <p14:creationId xmlns:p14="http://schemas.microsoft.com/office/powerpoint/2010/main" val="31941529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a:off x="509691" y="1169498"/>
            <a:ext cx="8182364" cy="29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In the </a:t>
            </a:r>
            <a:r>
              <a:rPr lang="en-US" sz="1400" b="1" dirty="0">
                <a:latin typeface="Times New Roman" panose="02020603050405020304" pitchFamily="18" charset="0"/>
                <a:cs typeface="Times New Roman" panose="02020603050405020304" pitchFamily="18" charset="0"/>
              </a:rPr>
              <a:t>first </a:t>
            </a:r>
            <a:r>
              <a:rPr lang="en-US" sz="1400" b="1" dirty="0" err="1">
                <a:latin typeface="Times New Roman" panose="02020603050405020304" pitchFamily="18" charset="0"/>
                <a:cs typeface="Times New Roman" panose="02020603050405020304" pitchFamily="18" charset="0"/>
              </a:rPr>
              <a:t>heatmap</a:t>
            </a:r>
            <a:r>
              <a:rPr lang="en-US" sz="1400" b="1" dirty="0">
                <a:latin typeface="Times New Roman" panose="02020603050405020304" pitchFamily="18" charset="0"/>
                <a:cs typeface="Times New Roman" panose="02020603050405020304" pitchFamily="18" charset="0"/>
              </a:rPr>
              <a:t> (Columns 1–15)</a:t>
            </a:r>
            <a:r>
              <a:rPr lang="en-US" sz="1400" dirty="0">
                <a:latin typeface="Times New Roman" panose="02020603050405020304" pitchFamily="18" charset="0"/>
                <a:cs typeface="Times New Roman" panose="02020603050405020304" pitchFamily="18" charset="0"/>
              </a:rPr>
              <a:t>, we see correlations among the engine operational settings, cycle count, and the first 10 sensors. The diagonal shows perfect correlation (1.0) since each variable correlates fully with itself. Most operational settings such as </a:t>
            </a:r>
            <a:r>
              <a:rPr lang="en-US" sz="1400" i="1" dirty="0">
                <a:latin typeface="Times New Roman" panose="02020603050405020304" pitchFamily="18" charset="0"/>
                <a:cs typeface="Times New Roman" panose="02020603050405020304" pitchFamily="18" charset="0"/>
              </a:rPr>
              <a:t>op_setting_1</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op_setting_2</a:t>
            </a:r>
            <a:r>
              <a:rPr lang="en-US" sz="1400" dirty="0">
                <a:latin typeface="Times New Roman" panose="02020603050405020304" pitchFamily="18" charset="0"/>
                <a:cs typeface="Times New Roman" panose="02020603050405020304" pitchFamily="18" charset="0"/>
              </a:rPr>
              <a:t>, and </a:t>
            </a:r>
            <a:r>
              <a:rPr lang="en-US" sz="1400" i="1" dirty="0">
                <a:latin typeface="Times New Roman" panose="02020603050405020304" pitchFamily="18" charset="0"/>
                <a:cs typeface="Times New Roman" panose="02020603050405020304" pitchFamily="18" charset="0"/>
              </a:rPr>
              <a:t>op_setting_3</a:t>
            </a:r>
            <a:r>
              <a:rPr lang="en-US" sz="1400" dirty="0">
                <a:latin typeface="Times New Roman" panose="02020603050405020304" pitchFamily="18" charset="0"/>
                <a:cs typeface="Times New Roman" panose="02020603050405020304" pitchFamily="18" charset="0"/>
              </a:rPr>
              <a:t> show very low correlation with other variables, indicating limited direct influence. On the other hand, the cycle variable is strongly correlated (0.96) with sensors 1–10, suggesting that as cycles progress, sensor readings change in a systematic way. Similarly, sensors 1–10 are highly correlated with each other (0.92), which implies redundancy in their measurements and possible </a:t>
            </a:r>
            <a:r>
              <a:rPr lang="en-US" sz="1400" dirty="0" err="1">
                <a:latin typeface="Times New Roman" panose="02020603050405020304" pitchFamily="18" charset="0"/>
                <a:cs typeface="Times New Roman" panose="02020603050405020304" pitchFamily="18" charset="0"/>
              </a:rPr>
              <a:t>multicollinearity</a:t>
            </a:r>
            <a:r>
              <a:rPr lang="en-US" sz="1400" dirty="0">
                <a:latin typeface="Times New Roman" panose="02020603050405020304" pitchFamily="18" charset="0"/>
                <a:cs typeface="Times New Roman" panose="02020603050405020304" pitchFamily="18" charset="0"/>
              </a:rPr>
              <a:t> issues. This indicates that not all sensors may contribute independently to predictive modeling, and dimensionality reduction techniques such as PCA or feature selection could be beneficial.</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8428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a:spLocks noChangeArrowheads="1"/>
          </p:cNvSpPr>
          <p:nvPr/>
        </p:nvSpPr>
        <p:spPr bwMode="auto">
          <a:xfrm>
            <a:off x="593773" y="1029205"/>
            <a:ext cx="8182364"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In the </a:t>
            </a:r>
            <a:r>
              <a:rPr lang="en-US" sz="1400" b="1" dirty="0">
                <a:latin typeface="Times New Roman" panose="02020603050405020304" pitchFamily="18" charset="0"/>
                <a:cs typeface="Times New Roman" panose="02020603050405020304" pitchFamily="18" charset="0"/>
              </a:rPr>
              <a:t>second </a:t>
            </a:r>
            <a:r>
              <a:rPr lang="en-US" sz="1400" b="1" dirty="0" err="1">
                <a:latin typeface="Times New Roman" panose="02020603050405020304" pitchFamily="18" charset="0"/>
                <a:cs typeface="Times New Roman" panose="02020603050405020304" pitchFamily="18" charset="0"/>
              </a:rPr>
              <a:t>heatmap</a:t>
            </a:r>
            <a:r>
              <a:rPr lang="en-US" sz="1400" b="1" dirty="0">
                <a:latin typeface="Times New Roman" panose="02020603050405020304" pitchFamily="18" charset="0"/>
                <a:cs typeface="Times New Roman" panose="02020603050405020304" pitchFamily="18" charset="0"/>
              </a:rPr>
              <a:t> (Columns 16–30)</a:t>
            </a:r>
            <a:r>
              <a:rPr lang="en-US" sz="1400" dirty="0">
                <a:latin typeface="Times New Roman" panose="02020603050405020304" pitchFamily="18" charset="0"/>
                <a:cs typeface="Times New Roman" panose="02020603050405020304" pitchFamily="18" charset="0"/>
              </a:rPr>
              <a:t>, sensors 11–21 are analyzed along with RUL. Here, we again notice that sensors 11–21 are highly correlated with each other (0.92 across the board). Interestingly, all these sensors show a strong negative correlation with RUL (around –0.96). This means as the sensor values increase with engine degradation, the RUL consistently decreases, which is expected in predictive maintenance. The uniformity of correlation values indicates that these sensors capture similar degradation trends, making them reliable predictors of RUL.</a:t>
            </a:r>
          </a:p>
          <a:p>
            <a:pPr algn="just">
              <a:lnSpc>
                <a:spcPct val="150000"/>
              </a:lnSpc>
            </a:pPr>
            <a:r>
              <a:rPr lang="en-US" sz="1400" dirty="0">
                <a:latin typeface="Times New Roman" panose="02020603050405020304" pitchFamily="18" charset="0"/>
                <a:cs typeface="Times New Roman" panose="02020603050405020304" pitchFamily="18" charset="0"/>
              </a:rPr>
              <a:t>Overall, the correlation analysis highlights two key insights: (1) strong interdependencies among sensors, which may require feature reduction to avoid redundancy, and (2) a strong negative correlation of multiple sensors with RUL, confirming their effectiveness in predicting equipment failure. These findings provide a solid foundation for selecting key features to build robust prognostic models.</a:t>
            </a:r>
          </a:p>
          <a:p>
            <a:pPr lvl="0" algn="just" defTabSz="914400" eaLnBrk="0" fontAlgn="base" hangingPunct="0">
              <a:lnSpc>
                <a:spcPct val="150000"/>
              </a:lnSpc>
              <a:spcBef>
                <a:spcPct val="0"/>
              </a:spcBef>
              <a:spcAft>
                <a:spcPct val="0"/>
              </a:spcAf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3823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4496" y="1210118"/>
            <a:ext cx="8177049" cy="353943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1.1 Data Upload and Acquisition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Accessible via the /upload route, this module allows users to upload CSV datasets containing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sensor and operational data. Key features include cycle numbers, temperature, pressure, vibration, and rotational speed readings. The uploaded data is parsed using Pandas, and the first 500 rows are displayed in a structured preview. This enables engineers or researchers to verify the dataset format before proceeding with model evaluation or prediction. Real-time manual data entry is also supported via the /prediction route for instant RUL prediction.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1.2 Data Validation and Preprocessing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All inputs, whether uploaded or manually entered, are validated for correct data type (float), non-null values, and operationally safe ranges (e.g., temperature, RPM). This ensures robust parsing and prevents inference errors. Feedback is provided through alerts in the front-end if invalid data is detected, maintaining prediction accuracy and reliability.</a:t>
            </a: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4777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4496" y="1210118"/>
            <a:ext cx="8177049"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1.3 Model Selection and Evaluation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/model route enables users to select from multiple pre-trained machine learning models: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 Each model’s performance metrics (MSE and R² Score) are displayed dynamically to help users select the most suitable model for RUL prediction.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and MLP are highlighted for their superior predictive performance.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1.4 Prediction and Inference Module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At the /prediction route, user inputs across multiple telemetry parameters are processed by the selected serialized model (loaded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The model outputs a numerical RUL prediction, which is then mapped to health categories: NORMAL, WARNING, and CRITICAL. The prediction, along with its health interpretation and maintenance suggestion, is displayed on prediction.html.</a:t>
            </a: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05365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73294"/>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9691" y="1083994"/>
            <a:ext cx="8177049" cy="353943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1.5 Rule-Based Classification and Maintenance Recommendations</a:t>
            </a:r>
          </a:p>
          <a:p>
            <a:pPr algn="just"/>
            <a:r>
              <a:rPr lang="en-US" sz="1400" dirty="0" smtClean="0">
                <a:latin typeface="Times New Roman" panose="02020603050405020304" pitchFamily="18" charset="0"/>
                <a:cs typeface="Times New Roman" panose="02020603050405020304" pitchFamily="18" charset="0"/>
              </a:rPr>
              <a:t>To </a:t>
            </a:r>
            <a:r>
              <a:rPr lang="en-US" sz="1400" dirty="0">
                <a:latin typeface="Times New Roman" panose="02020603050405020304" pitchFamily="18" charset="0"/>
                <a:cs typeface="Times New Roman" panose="02020603050405020304" pitchFamily="18" charset="0"/>
              </a:rPr>
              <a:t>support decision-making, RUL predictions are categorized as follows: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NORMAL: Engine is healthy and continues operation.</a:t>
            </a:r>
          </a:p>
          <a:p>
            <a:pPr algn="just"/>
            <a:r>
              <a:rPr lang="en-US" sz="1400" dirty="0" smtClean="0">
                <a:latin typeface="Times New Roman" panose="02020603050405020304" pitchFamily="18" charset="0"/>
                <a:cs typeface="Times New Roman" panose="02020603050405020304" pitchFamily="18" charset="0"/>
              </a:rPr>
              <a:t>WARNING</a:t>
            </a:r>
            <a:r>
              <a:rPr lang="en-US" sz="1400" dirty="0">
                <a:latin typeface="Times New Roman" panose="02020603050405020304" pitchFamily="18" charset="0"/>
                <a:cs typeface="Times New Roman" panose="02020603050405020304" pitchFamily="18" charset="0"/>
              </a:rPr>
              <a:t>: Schedule maintenance soon; increase monitoring.</a:t>
            </a:r>
          </a:p>
          <a:p>
            <a:pPr algn="just"/>
            <a:r>
              <a:rPr lang="en-US" sz="1400" dirty="0" smtClean="0">
                <a:latin typeface="Times New Roman" panose="02020603050405020304" pitchFamily="18" charset="0"/>
                <a:cs typeface="Times New Roman" panose="02020603050405020304" pitchFamily="18" charset="0"/>
              </a:rPr>
              <a:t>CRITICAL</a:t>
            </a:r>
            <a:r>
              <a:rPr lang="en-US" sz="1400" dirty="0">
                <a:latin typeface="Times New Roman" panose="02020603050405020304" pitchFamily="18" charset="0"/>
                <a:cs typeface="Times New Roman" panose="02020603050405020304" pitchFamily="18" charset="0"/>
              </a:rPr>
              <a:t>: Immediate inspection and maintenance required.</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These categories allow operators to quickly interpret predictions and take actionable steps.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1.6 Security and Session Management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Secure login and registration are implemented via /login and /register. Features include:</a:t>
            </a:r>
          </a:p>
          <a:p>
            <a:pPr algn="just"/>
            <a:r>
              <a:rPr lang="en-US" sz="1400" dirty="0" smtClean="0">
                <a:latin typeface="Times New Roman" panose="02020603050405020304" pitchFamily="18" charset="0"/>
                <a:cs typeface="Times New Roman" panose="02020603050405020304" pitchFamily="18" charset="0"/>
              </a:rPr>
              <a:t>CSRF </a:t>
            </a:r>
            <a:r>
              <a:rPr lang="en-US" sz="1400" dirty="0">
                <a:latin typeface="Times New Roman" panose="02020603050405020304" pitchFamily="18" charset="0"/>
                <a:cs typeface="Times New Roman" panose="02020603050405020304" pitchFamily="18" charset="0"/>
              </a:rPr>
              <a:t>protection using Flask-WTF</a:t>
            </a:r>
          </a:p>
          <a:p>
            <a:pPr algn="just"/>
            <a:r>
              <a:rPr lang="en-US" sz="1400" dirty="0" smtClean="0">
                <a:latin typeface="Times New Roman" panose="02020603050405020304" pitchFamily="18" charset="0"/>
                <a:cs typeface="Times New Roman" panose="02020603050405020304" pitchFamily="18" charset="0"/>
              </a:rPr>
              <a:t>Session </a:t>
            </a:r>
            <a:r>
              <a:rPr lang="en-US" sz="1400" dirty="0">
                <a:latin typeface="Times New Roman" panose="02020603050405020304" pitchFamily="18" charset="0"/>
                <a:cs typeface="Times New Roman" panose="02020603050405020304" pitchFamily="18" charset="0"/>
              </a:rPr>
              <a:t>handling for sensitive routes (/upload, /model, /prediction)</a:t>
            </a:r>
          </a:p>
          <a:p>
            <a:pPr algn="just"/>
            <a:r>
              <a:rPr lang="en-US" sz="1400" dirty="0" smtClean="0">
                <a:latin typeface="Times New Roman" panose="02020603050405020304" pitchFamily="18" charset="0"/>
                <a:cs typeface="Times New Roman" panose="02020603050405020304" pitchFamily="18" charset="0"/>
              </a:rPr>
              <a:t>Flash-based </a:t>
            </a:r>
            <a:r>
              <a:rPr lang="en-US" sz="1400" dirty="0">
                <a:latin typeface="Times New Roman" panose="02020603050405020304" pitchFamily="18" charset="0"/>
                <a:cs typeface="Times New Roman" panose="02020603050405020304" pitchFamily="18" charset="0"/>
              </a:rPr>
              <a:t>feedback for invalid login attempts or duplicate registrations</a:t>
            </a:r>
          </a:p>
          <a:p>
            <a:pPr algn="just"/>
            <a:r>
              <a:rPr lang="en-US" sz="1400" dirty="0" smtClean="0">
                <a:latin typeface="Times New Roman" panose="02020603050405020304" pitchFamily="18" charset="0"/>
                <a:cs typeface="Times New Roman" panose="02020603050405020304" pitchFamily="18" charset="0"/>
              </a:rPr>
              <a:t>Future </a:t>
            </a:r>
            <a:r>
              <a:rPr lang="en-US" sz="1400" dirty="0">
                <a:latin typeface="Times New Roman" panose="02020603050405020304" pitchFamily="18" charset="0"/>
                <a:cs typeface="Times New Roman" panose="02020603050405020304" pitchFamily="18" charset="0"/>
              </a:rPr>
              <a:t>plans: password hashing with </a:t>
            </a:r>
            <a:r>
              <a:rPr lang="en-US" sz="1400" dirty="0" err="1">
                <a:latin typeface="Times New Roman" panose="02020603050405020304" pitchFamily="18" charset="0"/>
                <a:cs typeface="Times New Roman" panose="02020603050405020304" pitchFamily="18" charset="0"/>
              </a:rPr>
              <a:t>bcrypt</a:t>
            </a:r>
            <a:r>
              <a:rPr lang="en-US" sz="1400" dirty="0">
                <a:latin typeface="Times New Roman" panose="02020603050405020304" pitchFamily="18" charset="0"/>
                <a:cs typeface="Times New Roman" panose="02020603050405020304" pitchFamily="18" charset="0"/>
              </a:rPr>
              <a:t> and token-based verification</a:t>
            </a:r>
          </a:p>
        </p:txBody>
      </p:sp>
    </p:spTree>
    <p:extLst>
      <p:ext uri="{BB962C8B-B14F-4D97-AF65-F5344CB8AC3E}">
        <p14:creationId xmlns:p14="http://schemas.microsoft.com/office/powerpoint/2010/main" val="20876642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73294"/>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9691" y="1220628"/>
            <a:ext cx="8119302" cy="3108543"/>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 User Management and Access Control</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User Management and Access Control module ensures secure, role-based, and seamless interaction with the RUL prediction system. It manages user registration, authentication, session handling, and access to private features, while maintaining data integrity and privacy.</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2.1 Registration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/register route allows new users to create an account by providing their name, email, and password. The system performs email uniqueness checks (case-insensitive) to prevent duplicate accounts and validates that the password and confirm password fields match. Once validated, the user’s credentials are stored in the MySQL users table. Future enhancements may include email verification, password hashing with </a:t>
            </a:r>
            <a:r>
              <a:rPr lang="en-US" sz="1400" dirty="0" err="1">
                <a:latin typeface="Times New Roman" panose="02020603050405020304" pitchFamily="18" charset="0"/>
                <a:cs typeface="Times New Roman" panose="02020603050405020304" pitchFamily="18" charset="0"/>
              </a:rPr>
              <a:t>bcrypt</a:t>
            </a:r>
            <a:r>
              <a:rPr lang="en-US" sz="1400" dirty="0">
                <a:latin typeface="Times New Roman" panose="02020603050405020304" pitchFamily="18" charset="0"/>
                <a:cs typeface="Times New Roman" panose="02020603050405020304" pitchFamily="18" charset="0"/>
              </a:rPr>
              <a:t>, and optional role-based access (e.g., admin, engineer) to control feature permissions.</a:t>
            </a:r>
          </a:p>
          <a:p>
            <a:pPr algn="just"/>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3929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73294"/>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9691" y="1346752"/>
            <a:ext cx="8066750" cy="289310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2.2 Login and Session Handling</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Through the /login route, registered users can authenticate using their credentials. Successful login initiates a secure session, allowing access to restricted routes such as /upload, /model, and /prediction. Sessions expire upon logout or after a defined period of inactivity, preventing unauthorized access. Flash messages notify users of failed login attempts, incorrect passwords, or unregistered email IDs, ensuring user-friendly feedback.</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2.3 Dataset Upload and Manual Input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Authorized users can upload CSV datasets through the /upload interface or manually enter sensor readings at /prediction. Uploaded datasets are parsed, validated, and previewed to ensure correct formatting. Real-time manual input enables immediate RUL prediction for individual engines, supporting urgent maintenance decisions.</a:t>
            </a:r>
          </a:p>
        </p:txBody>
      </p:sp>
    </p:spTree>
    <p:extLst>
      <p:ext uri="{BB962C8B-B14F-4D97-AF65-F5344CB8AC3E}">
        <p14:creationId xmlns:p14="http://schemas.microsoft.com/office/powerpoint/2010/main" val="6608370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73294"/>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9691" y="1346752"/>
            <a:ext cx="8066750" cy="289310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2.4 Model Evaluation Interface</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/model route presents all available machine learning models, 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 Users can view dynamically updated performance metrics (MSE and R²) for each model. This interface allows comparison across models and selection of the most suitable algorithm based on predictive accuracy and reliability.</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2.5 Prediction Output Visualization</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Predicted RUL values are displayed alongside engine health classification—NORMAL, WARNING, CRITICAL—and actionable maintenance recommendations on prediction.html. The system provides intuitive color-coded indicators and textual guidance to help users quickly interpret the results and make informed operational decisions.</a:t>
            </a:r>
          </a:p>
        </p:txBody>
      </p:sp>
    </p:spTree>
    <p:extLst>
      <p:ext uri="{BB962C8B-B14F-4D97-AF65-F5344CB8AC3E}">
        <p14:creationId xmlns:p14="http://schemas.microsoft.com/office/powerpoint/2010/main" val="28328373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73294"/>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9691" y="1346752"/>
            <a:ext cx="8066750" cy="2893100"/>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2.2 Login and Session Handling</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Through the /login route, registered users can authenticate using their credentials. Successful login initiates a secure session, allowing access to restricted routes such as /upload, /model, and /prediction. Sessions expire upon logout or after a defined period of inactivity, preventing unauthorized access. Flash messages notify users of failed login attempts, incorrect passwords, or unregistered email IDs, ensuring user-friendly feedback.</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2.3 Dataset Upload and Manual Input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Authorized users can upload CSV datasets through the /upload interface or manually enter sensor readings at /prediction. Uploaded datasets are parsed, validated, and previewed to ensure correct formatting. Real-time manual input enables immediate RUL prediction for individual engines, supporting urgent maintenance decisions.</a:t>
            </a:r>
          </a:p>
        </p:txBody>
      </p:sp>
    </p:spTree>
    <p:extLst>
      <p:ext uri="{BB962C8B-B14F-4D97-AF65-F5344CB8AC3E}">
        <p14:creationId xmlns:p14="http://schemas.microsoft.com/office/powerpoint/2010/main" val="36155690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636052"/>
            <a:ext cx="7713900" cy="710700"/>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Pre-processing </a:t>
            </a:r>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93511" y="1653344"/>
            <a:ext cx="7881540" cy="1669496"/>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2.6 Logout and Session Termination</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Secure logout functionality ensures that all session data is cleared, preventing unauthorized reuse of sensitive session credentials. This maintains user privacy and system security. Future upgrades may include multi-factor authentication and audit logging of login activities for enhanced security.</a:t>
            </a:r>
          </a:p>
        </p:txBody>
      </p:sp>
    </p:spTree>
    <p:extLst>
      <p:ext uri="{BB962C8B-B14F-4D97-AF65-F5344CB8AC3E}">
        <p14:creationId xmlns:p14="http://schemas.microsoft.com/office/powerpoint/2010/main" val="14382392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41</a:t>
            </a:fld>
            <a:endParaRPr lang="en-US" dirty="0"/>
          </a:p>
        </p:txBody>
      </p:sp>
      <p:sp>
        <p:nvSpPr>
          <p:cNvPr id="4" name="Rectangle 3"/>
          <p:cNvSpPr/>
          <p:nvPr/>
        </p:nvSpPr>
        <p:spPr>
          <a:xfrm>
            <a:off x="262759" y="-4122390"/>
            <a:ext cx="8313682" cy="3754874"/>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3. Data Cleaning</a:t>
            </a:r>
          </a:p>
          <a:p>
            <a:r>
              <a:rPr lang="en-US" sz="1400" dirty="0">
                <a:latin typeface="Times New Roman" panose="02020603050405020304" pitchFamily="18" charset="0"/>
                <a:cs typeface="Times New Roman" panose="02020603050405020304" pitchFamily="18" charset="0"/>
              </a:rPr>
              <a:t>Data cleaning is a crucial step to ensure that the dataset is free from any inconsistencies or issues that may distort the analysis. The </a:t>
            </a:r>
            <a:r>
              <a:rPr lang="en-US" sz="1400" b="1" dirty="0">
                <a:latin typeface="Times New Roman" panose="02020603050405020304" pitchFamily="18" charset="0"/>
                <a:cs typeface="Times New Roman" panose="02020603050405020304" pitchFamily="18" charset="0"/>
              </a:rPr>
              <a:t>user data</a:t>
            </a:r>
            <a:r>
              <a:rPr lang="en-US" sz="1400" dirty="0">
                <a:latin typeface="Times New Roman" panose="02020603050405020304" pitchFamily="18" charset="0"/>
                <a:cs typeface="Times New Roman" panose="02020603050405020304" pitchFamily="18" charset="0"/>
              </a:rPr>
              <a:t> is checked for missing fields, such as missing names, emails, or passwords. Any missing critical data is flagged for the user to correct. Similarly, when users upload ECG data, the application checks for missing values in the columns and rows. Missing values are handled by </a:t>
            </a:r>
            <a:r>
              <a:rPr lang="en-US" sz="1400" b="1" dirty="0">
                <a:latin typeface="Times New Roman" panose="02020603050405020304" pitchFamily="18" charset="0"/>
                <a:cs typeface="Times New Roman" panose="02020603050405020304" pitchFamily="18" charset="0"/>
              </a:rPr>
              <a:t>imputation</a:t>
            </a:r>
            <a:r>
              <a:rPr lang="en-US" sz="1400" dirty="0">
                <a:latin typeface="Times New Roman" panose="02020603050405020304" pitchFamily="18" charset="0"/>
                <a:cs typeface="Times New Roman" panose="02020603050405020304" pitchFamily="18" charset="0"/>
              </a:rPr>
              <a:t> (e.g., using mean or median values) or </a:t>
            </a:r>
            <a:r>
              <a:rPr lang="en-US" sz="1400" b="1" dirty="0">
                <a:latin typeface="Times New Roman" panose="02020603050405020304" pitchFamily="18" charset="0"/>
                <a:cs typeface="Times New Roman" panose="02020603050405020304" pitchFamily="18" charset="0"/>
              </a:rPr>
              <a:t>removal</a:t>
            </a:r>
            <a:r>
              <a:rPr lang="en-US" sz="1400" dirty="0">
                <a:latin typeface="Times New Roman" panose="02020603050405020304" pitchFamily="18" charset="0"/>
                <a:cs typeface="Times New Roman" panose="02020603050405020304" pitchFamily="18" charset="0"/>
              </a:rPr>
              <a:t> of rows with significant missing data. Duplicate records, especially in the user database, are also detected and removed to ensure uniqueness. Outlier detection is another critical aspect—outliers in both user data (e.g., unrealistic age values) and ECG features (e.g., HRV metrics) are identified and either capped or removed using statistical methods like the Z-score or IQR.</a:t>
            </a:r>
          </a:p>
          <a:p>
            <a:r>
              <a:rPr lang="en-US" sz="1400" b="1" dirty="0">
                <a:latin typeface="Times New Roman" panose="02020603050405020304" pitchFamily="18" charset="0"/>
                <a:cs typeface="Times New Roman" panose="02020603050405020304" pitchFamily="18" charset="0"/>
              </a:rPr>
              <a:t>4. Feature Extraction and Selection</a:t>
            </a:r>
          </a:p>
          <a:p>
            <a:r>
              <a:rPr lang="en-US" sz="1400" dirty="0">
                <a:latin typeface="Times New Roman" panose="02020603050405020304" pitchFamily="18" charset="0"/>
                <a:cs typeface="Times New Roman" panose="02020603050405020304" pitchFamily="18" charset="0"/>
              </a:rPr>
              <a:t>Feature extraction involves processing raw data into relevant features that can be used for modeling. In this case, the ECG data contains multiple time-domain features (e.g., mean RR intervals, RMSSD), frequency-domain features (e.g., LF/HF ratio), and nonlinear features (e.g., </a:t>
            </a:r>
            <a:r>
              <a:rPr lang="en-US" sz="1400" dirty="0" err="1">
                <a:latin typeface="Times New Roman" panose="02020603050405020304" pitchFamily="18" charset="0"/>
                <a:cs typeface="Times New Roman" panose="02020603050405020304" pitchFamily="18" charset="0"/>
              </a:rPr>
              <a:t>Sampen</a:t>
            </a:r>
            <a:r>
              <a:rPr lang="en-US" sz="1400" dirty="0">
                <a:latin typeface="Times New Roman" panose="02020603050405020304" pitchFamily="18" charset="0"/>
                <a:cs typeface="Times New Roman" panose="02020603050405020304" pitchFamily="18" charset="0"/>
              </a:rPr>
              <a:t>, Higuchi dimension), all of which are important for analyzing heart rate recovery (HRR). These features are extracted directly from the uploaded ECG data. After feature extraction, the system employs </a:t>
            </a:r>
            <a:r>
              <a:rPr lang="en-US" sz="1400" b="1" dirty="0">
                <a:latin typeface="Times New Roman" panose="02020603050405020304" pitchFamily="18" charset="0"/>
                <a:cs typeface="Times New Roman" panose="02020603050405020304" pitchFamily="18" charset="0"/>
              </a:rPr>
              <a:t>feature selection techniques</a:t>
            </a:r>
            <a:r>
              <a:rPr lang="en-US" sz="1400" dirty="0">
                <a:latin typeface="Times New Roman" panose="02020603050405020304" pitchFamily="18" charset="0"/>
                <a:cs typeface="Times New Roman" panose="02020603050405020304" pitchFamily="18" charset="0"/>
              </a:rPr>
              <a:t> to choose the most relevant features for predicting HR and categorizing heart rate recovery. Methods such as </a:t>
            </a:r>
            <a:r>
              <a:rPr lang="en-US" sz="1400" b="1" dirty="0">
                <a:latin typeface="Times New Roman" panose="02020603050405020304" pitchFamily="18" charset="0"/>
                <a:cs typeface="Times New Roman" panose="02020603050405020304" pitchFamily="18" charset="0"/>
              </a:rPr>
              <a:t>correlation analysis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mutual information</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feature importance ranking</a:t>
            </a:r>
            <a:r>
              <a:rPr lang="en-US" sz="1400" dirty="0">
                <a:latin typeface="Times New Roman" panose="02020603050405020304" pitchFamily="18" charset="0"/>
                <a:cs typeface="Times New Roman" panose="02020603050405020304" pitchFamily="18" charset="0"/>
              </a:rPr>
              <a:t> help in identifying key features that contribute to prediction accuracy.</a:t>
            </a:r>
          </a:p>
        </p:txBody>
      </p:sp>
      <p:sp>
        <p:nvSpPr>
          <p:cNvPr id="5" name="Rectangle 4"/>
          <p:cNvSpPr/>
          <p:nvPr/>
        </p:nvSpPr>
        <p:spPr>
          <a:xfrm>
            <a:off x="373117" y="475140"/>
            <a:ext cx="8092966" cy="307777"/>
          </a:xfrm>
          <a:prstGeom prst="rect">
            <a:avLst/>
          </a:prstGeom>
        </p:spPr>
        <p:txBody>
          <a:bodyPr wrap="square">
            <a:spAutoFit/>
          </a:bodyPr>
          <a:lstStyle/>
          <a:p>
            <a:endParaRPr lang="en-US" sz="1400" dirty="0">
              <a:latin typeface="Times New Roman" panose="02020603050405020304" pitchFamily="18" charset="0"/>
              <a:cs typeface="Times New Roman" panose="02020603050405020304" pitchFamily="18" charset="0"/>
            </a:endParaRPr>
          </a:p>
        </p:txBody>
      </p:sp>
      <p:sp>
        <p:nvSpPr>
          <p:cNvPr id="3" name="Rectangle 2"/>
          <p:cNvSpPr/>
          <p:nvPr/>
        </p:nvSpPr>
        <p:spPr>
          <a:xfrm>
            <a:off x="614855" y="571152"/>
            <a:ext cx="7961586" cy="3539430"/>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5. Data </a:t>
            </a:r>
            <a:r>
              <a:rPr lang="en-US" sz="1400" b="1" dirty="0" smtClean="0">
                <a:latin typeface="Times New Roman" panose="02020603050405020304" pitchFamily="18" charset="0"/>
                <a:cs typeface="Times New Roman" panose="02020603050405020304" pitchFamily="18" charset="0"/>
              </a:rPr>
              <a:t>Transformation</a:t>
            </a:r>
          </a:p>
          <a:p>
            <a:endParaRPr lang="en-US" sz="1400" b="1" dirty="0" smtClean="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To ensure compatibility with machine learning models, all user input values are converted into floating-point format. For anomaly detection, Z-score transformation is applied to the predicted output. By comparing the predicted value against the historical mean and standard deviation, the system assesses if the result is significantly different. If the Z-score exceeds a threshold, it is flagged. This helps the model detect abnormal values and standardize input ranges for consistent predictions.</a:t>
            </a:r>
          </a:p>
          <a:p>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6. Model Evaluation and </a:t>
            </a:r>
            <a:r>
              <a:rPr lang="en-US" sz="1400" b="1" dirty="0" smtClean="0">
                <a:latin typeface="Times New Roman" panose="02020603050405020304" pitchFamily="18" charset="0"/>
                <a:cs typeface="Times New Roman" panose="02020603050405020304" pitchFamily="18" charset="0"/>
              </a:rPr>
              <a:t>Selection</a:t>
            </a:r>
          </a:p>
          <a:p>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system evaluates several machine learning and deep learning models including Random Forest, Decision Tree, Gradient Boosting, Support Vector Regression, Multi-Layer Perceptron, LSTM, Feedforward Neural Network, and K-Nearest Neighbors. Each model is scored using Mean Squared Error and R² Score and presented via a dropdown in the web interface for comparison. Among these, Gradient Boosting and LSTM demonstrated the highest accuracy, with minimal error and R² scores above 0.999, making them the preferred models for prediction.</a:t>
            </a: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327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42</a:t>
            </a:fld>
            <a:endParaRPr lang="en-US" dirty="0"/>
          </a:p>
        </p:txBody>
      </p:sp>
      <p:sp>
        <p:nvSpPr>
          <p:cNvPr id="5" name="Rectangle 4"/>
          <p:cNvSpPr/>
          <p:nvPr/>
        </p:nvSpPr>
        <p:spPr>
          <a:xfrm>
            <a:off x="373117" y="475140"/>
            <a:ext cx="8092966" cy="307777"/>
          </a:xfrm>
          <a:prstGeom prst="rect">
            <a:avLst/>
          </a:prstGeom>
        </p:spPr>
        <p:txBody>
          <a:bodyPr wrap="square">
            <a:spAutoFit/>
          </a:bodyPr>
          <a:lstStyle/>
          <a:p>
            <a:endParaRPr lang="en-US" sz="1400"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614856" y="1306852"/>
            <a:ext cx="785122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400" b="1" dirty="0">
                <a:latin typeface="Times New Roman" panose="02020603050405020304" pitchFamily="18" charset="0"/>
                <a:cs typeface="Times New Roman" panose="02020603050405020304" pitchFamily="18" charset="0"/>
              </a:rPr>
              <a:t>7. Prediction and Anomaly </a:t>
            </a:r>
            <a:r>
              <a:rPr lang="en-US" sz="1400" b="1" dirty="0" smtClean="0">
                <a:latin typeface="Times New Roman" panose="02020603050405020304" pitchFamily="18" charset="0"/>
                <a:cs typeface="Times New Roman" panose="02020603050405020304" pitchFamily="18" charset="0"/>
              </a:rPr>
              <a:t>Detection</a:t>
            </a:r>
          </a:p>
          <a:p>
            <a:pPr algn="just"/>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Users input values through a prediction form which are passed to the selected machine learning model. The model outputs the predicted Remaining Useful Life for the device. Based on the predicted value, a status message is generated to guide clinical decision-making. Devices with high RUL are marked Healthy, medium RUL are flagged for Observation, and low RUL devices are considered Critical. This real-time feedback allows early maintenance planning and enhances patient safety through predictive intervention.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8304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585175" y="1024956"/>
            <a:ext cx="8049234" cy="2528257"/>
          </a:xfrm>
          <a:prstGeom prst="rect">
            <a:avLst/>
          </a:prstGeom>
          <a:noFill/>
          <a:ln>
            <a:noFill/>
          </a:ln>
        </p:spPr>
        <p:txBody>
          <a:bodyPr spcFirstLastPara="1" wrap="square" lIns="91425" tIns="91425" rIns="91425" bIns="91425" anchor="t" anchorCtr="0">
            <a:noAutofit/>
          </a:bodyPr>
          <a:lstStyle/>
          <a:p>
            <a:pPr marL="342900" indent="-342900" algn="just">
              <a:lnSpc>
                <a:spcPct val="150000"/>
              </a:lnSpc>
              <a:buAutoNum type="arabicPeriod"/>
            </a:pPr>
            <a:r>
              <a:rPr lang="en-US" sz="1400" b="1" dirty="0" smtClean="0">
                <a:latin typeface="Times New Roman" panose="02020603050405020304" pitchFamily="18" charset="0"/>
                <a:cs typeface="Times New Roman" panose="02020603050405020304" pitchFamily="18" charset="0"/>
              </a:rPr>
              <a:t>Random </a:t>
            </a:r>
            <a:r>
              <a:rPr lang="en-US" sz="1400" b="1" dirty="0">
                <a:latin typeface="Times New Roman" panose="02020603050405020304" pitchFamily="18" charset="0"/>
                <a:cs typeface="Times New Roman" panose="02020603050405020304" pitchFamily="18" charset="0"/>
              </a:rPr>
              <a:t>Forest </a:t>
            </a:r>
            <a:r>
              <a:rPr lang="en-US" sz="1400" b="1" dirty="0" err="1" smtClean="0">
                <a:latin typeface="Times New Roman" panose="02020603050405020304" pitchFamily="18" charset="0"/>
                <a:cs typeface="Times New Roman" panose="02020603050405020304" pitchFamily="18" charset="0"/>
              </a:rPr>
              <a:t>Regressor</a:t>
            </a:r>
            <a:endParaRPr lang="en-US" sz="1400" b="1" dirty="0" smtClean="0">
              <a:latin typeface="Times New Roman" panose="02020603050405020304" pitchFamily="18" charset="0"/>
              <a:cs typeface="Times New Roman" panose="02020603050405020304" pitchFamily="18" charset="0"/>
            </a:endParaRP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Random Forest is an ensemble learning method that constructs multiple decision trees during training and outputs the average prediction of individual trees for regression tasks. Each tree is trained on a bootstrap sample of the data, and at each split, only a random subset of features is considered, which reduces correlation between trees and prevents overfitting. In the context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Random Forest can capture complex nonlinear relationships between sensor readings and engine degradation patterns. Its robustness to noisy or missing data, high interpretability via feature importance, and parallelizable training make it a widely used algorithm. Performance is evaluated using Mean Squared Error (MSE) and R², and in this project, it achieved MSE = 11.1807 and R² = 0.9985.</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585175" y="102495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2. Extra Trees </a:t>
            </a:r>
            <a:r>
              <a:rPr lang="en-US" sz="1400" b="1" dirty="0" err="1" smtClean="0">
                <a:latin typeface="Times New Roman" panose="02020603050405020304" pitchFamily="18" charset="0"/>
                <a:cs typeface="Times New Roman" panose="02020603050405020304" pitchFamily="18" charset="0"/>
              </a:rPr>
              <a:t>Regressor</a:t>
            </a:r>
            <a:endParaRPr lang="en-US" sz="1400" b="1" dirty="0" smtClean="0">
              <a:latin typeface="Times New Roman" panose="02020603050405020304" pitchFamily="18" charset="0"/>
              <a:cs typeface="Times New Roman" panose="02020603050405020304" pitchFamily="18" charset="0"/>
            </a:endParaRP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Extra Trees, or Extremely Randomized Trees, is similar to Random Forest but introduces additional randomness during tree construction. Unlike Random Forest, which searches for the optimal split, Extra Trees chooses split points randomly for each feature, making the trees more diverse and reducing variance. This algorithm is particularly effective for high-dimensional datasets like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sensor data. It can efficiently capture complex nonlinear interactions between multiple features and provides robust predictions with less overfitting. Feature importance scores can be extracted for </a:t>
            </a:r>
            <a:r>
              <a:rPr lang="en-US" sz="1400" dirty="0" err="1">
                <a:latin typeface="Times New Roman" panose="02020603050405020304" pitchFamily="18" charset="0"/>
                <a:cs typeface="Times New Roman" panose="02020603050405020304" pitchFamily="18" charset="0"/>
              </a:rPr>
              <a:t>explainability</a:t>
            </a:r>
            <a:r>
              <a:rPr lang="en-US" sz="1400" dirty="0">
                <a:latin typeface="Times New Roman" panose="02020603050405020304" pitchFamily="18" charset="0"/>
                <a:cs typeface="Times New Roman" panose="02020603050405020304" pitchFamily="18" charset="0"/>
              </a:rPr>
              <a:t>. In this project,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was one of the top-performing models, achieving MSE = 10.9384 and R² = 0.9985, making it highly reliable for forecasting Remaining Useful Life in engines.</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extLst>
      <p:ext uri="{BB962C8B-B14F-4D97-AF65-F5344CB8AC3E}">
        <p14:creationId xmlns:p14="http://schemas.microsoft.com/office/powerpoint/2010/main" val="22045448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585175" y="102495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3. Gradient Boosting </a:t>
            </a:r>
            <a:r>
              <a:rPr lang="en-US" sz="1400" b="1" dirty="0" err="1" smtClean="0">
                <a:latin typeface="Times New Roman" panose="02020603050405020304" pitchFamily="18" charset="0"/>
                <a:cs typeface="Times New Roman" panose="02020603050405020304" pitchFamily="18" charset="0"/>
              </a:rPr>
              <a:t>Regressor</a:t>
            </a:r>
            <a:endParaRPr lang="en-US" sz="1400" b="1" dirty="0" smtClean="0">
              <a:latin typeface="Times New Roman" panose="02020603050405020304" pitchFamily="18" charset="0"/>
              <a:cs typeface="Times New Roman" panose="02020603050405020304" pitchFamily="18" charset="0"/>
            </a:endParaRP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Gradient Boosting is a sequential ensemble technique where multiple weak learners, typically decision trees, are trained iteratively to minimize a loss function. Each subsequent tree focuses on correcting the errors of the previous ensemble. This approach allows the model to capture subtle patterns in engine degradation and improve predictive accuracy. Gradient Boosting is robust to outliers and can handle complex nonlinear relationships between sensor features and RUL. </a:t>
            </a:r>
            <a:r>
              <a:rPr lang="en-US" sz="1400" dirty="0" err="1">
                <a:latin typeface="Times New Roman" panose="02020603050405020304" pitchFamily="18" charset="0"/>
                <a:cs typeface="Times New Roman" panose="02020603050405020304" pitchFamily="18" charset="0"/>
              </a:rPr>
              <a:t>Hyperparameters</a:t>
            </a:r>
            <a:r>
              <a:rPr lang="en-US" sz="1400" dirty="0">
                <a:latin typeface="Times New Roman" panose="02020603050405020304" pitchFamily="18" charset="0"/>
                <a:cs typeface="Times New Roman" panose="02020603050405020304" pitchFamily="18" charset="0"/>
              </a:rPr>
              <a:t> such as learning rate, tree depth, and number of estimators control model performance and prevent overfitting. In this project, it achieved excellent results with MSE = 10.6522 and R² = 0.9986, indicating highly accurate and reliable predictions for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maintenance.</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extLst>
      <p:ext uri="{BB962C8B-B14F-4D97-AF65-F5344CB8AC3E}">
        <p14:creationId xmlns:p14="http://schemas.microsoft.com/office/powerpoint/2010/main" val="336051728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585175" y="102495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4. </a:t>
            </a:r>
            <a:r>
              <a:rPr lang="en-US" sz="1400" b="1" dirty="0" err="1">
                <a:latin typeface="Times New Roman" panose="02020603050405020304" pitchFamily="18" charset="0"/>
                <a:cs typeface="Times New Roman" panose="02020603050405020304" pitchFamily="18" charset="0"/>
              </a:rPr>
              <a:t>XGBoost</a:t>
            </a:r>
            <a:r>
              <a:rPr lang="en-US" sz="1400" b="1" dirty="0">
                <a:latin typeface="Times New Roman" panose="02020603050405020304" pitchFamily="18" charset="0"/>
                <a:cs typeface="Times New Roman" panose="02020603050405020304" pitchFamily="18" charset="0"/>
              </a:rPr>
              <a:t> </a:t>
            </a:r>
            <a:r>
              <a:rPr lang="en-US" sz="1400" b="1" dirty="0" err="1" smtClean="0">
                <a:latin typeface="Times New Roman" panose="02020603050405020304" pitchFamily="18" charset="0"/>
                <a:cs typeface="Times New Roman" panose="02020603050405020304" pitchFamily="18" charset="0"/>
              </a:rPr>
              <a:t>Regressor</a:t>
            </a:r>
            <a:endParaRPr lang="en-US" sz="1400" b="1" dirty="0" smtClean="0">
              <a:latin typeface="Times New Roman" panose="02020603050405020304" pitchFamily="18" charset="0"/>
              <a:cs typeface="Times New Roman" panose="02020603050405020304" pitchFamily="18" charset="0"/>
            </a:endParaRP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(Extreme Gradient Boosting) is an optimized implementation of gradient boosting that enhances computational efficiency and predictive performance. It incorporates regularization techniques (L1 and L2) to reduce overfitting, supports parallel processing, and handles missing values efficiently.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builds trees sequentially, where each tree learns to correct the residual errors of the previous ensemble. In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effectively captures complex temporal and nonlinear relationships among sensor measurements. Its scalability and high accuracy make it suitable for large datasets with multiple input features. In this project,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achieved MSE = 0.0029 and R² = 0.9984, highlighting its ability to provide precise predictions and reliable guidance for maintenance scheduling.</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extLst>
      <p:ext uri="{BB962C8B-B14F-4D97-AF65-F5344CB8AC3E}">
        <p14:creationId xmlns:p14="http://schemas.microsoft.com/office/powerpoint/2010/main" val="21320463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585175" y="102495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5. K-Nearest Neighbors (KNN) </a:t>
            </a:r>
            <a:r>
              <a:rPr lang="en-US" sz="1400" b="1" dirty="0" err="1" smtClean="0">
                <a:latin typeface="Times New Roman" panose="02020603050405020304" pitchFamily="18" charset="0"/>
                <a:cs typeface="Times New Roman" panose="02020603050405020304" pitchFamily="18" charset="0"/>
              </a:rPr>
              <a:t>Regressor</a:t>
            </a:r>
            <a:endParaRPr lang="en-US" sz="1400" b="1" dirty="0" smtClean="0">
              <a:latin typeface="Times New Roman" panose="02020603050405020304" pitchFamily="18" charset="0"/>
              <a:cs typeface="Times New Roman" panose="02020603050405020304" pitchFamily="18" charset="0"/>
            </a:endParaRP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K-Nearest Neighbors (KNN) is a non-parametric, instance-based learning algorithm where predictions are made by averaging the values of the k-nearest neighbors in the feature space. Distance metrics such as Euclidean distance determine the neighbors, making it simple yet effective for regression tasks. KNN does not assume any functional form between input features and output, allowing it to capture localized patterns in sensor data. Its performance depends on the choice of k and feature scaling. In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KNN can provide accurate estimates for engines with operational conditions similar to historical data. In this project, it achieved MSE = 0.0101 and R² = 0.9944, demonstrating its utility for reliable short-term predictions.</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extLst>
      <p:ext uri="{BB962C8B-B14F-4D97-AF65-F5344CB8AC3E}">
        <p14:creationId xmlns:p14="http://schemas.microsoft.com/office/powerpoint/2010/main" val="37838264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402107"/>
            <a:ext cx="4048894" cy="501142"/>
          </a:xfrm>
          <a:prstGeom prst="rect">
            <a:avLst/>
          </a:prstGeom>
          <a:ln>
            <a:noFill/>
          </a:ln>
        </p:spPr>
        <p:txBody>
          <a:bodyPr spcFirstLastPara="1" wrap="square" lIns="91425" tIns="91425" rIns="91425" bIns="91425" anchor="t" anchorCtr="0">
            <a:noAutofit/>
          </a:bodyPr>
          <a:lstStyle/>
          <a:p>
            <a:pPr lvl="0"/>
            <a:r>
              <a:rPr lang="en-IN" sz="2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Random Forest</a:t>
            </a:r>
            <a:endPar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585175" y="1024956"/>
            <a:ext cx="8049234" cy="2528257"/>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400" b="1" dirty="0" smtClean="0">
                <a:latin typeface="Times New Roman" panose="02020603050405020304" pitchFamily="18" charset="0"/>
                <a:cs typeface="Times New Roman" panose="02020603050405020304" pitchFamily="18" charset="0"/>
              </a:rPr>
              <a:t>6. </a:t>
            </a:r>
            <a:r>
              <a:rPr lang="en-US" sz="1400" b="1" dirty="0">
                <a:latin typeface="Times New Roman" panose="02020603050405020304" pitchFamily="18" charset="0"/>
                <a:cs typeface="Times New Roman" panose="02020603050405020304" pitchFamily="18" charset="0"/>
              </a:rPr>
              <a:t>Multi-Layer Perceptron (MLP</a:t>
            </a:r>
            <a:r>
              <a:rPr lang="en-US" sz="1400" b="1" dirty="0" smtClean="0">
                <a:latin typeface="Times New Roman" panose="02020603050405020304" pitchFamily="18" charset="0"/>
                <a:cs typeface="Times New Roman" panose="02020603050405020304" pitchFamily="18" charset="0"/>
              </a:rPr>
              <a:t>)</a:t>
            </a:r>
          </a:p>
          <a:p>
            <a:pPr algn="just">
              <a:lnSpc>
                <a:spcPct val="150000"/>
              </a:lnSpc>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Multi-Layer Perceptron (MLP) is a type of feedforward neural network with multiple hidden layers and nonlinear activation functions. MLPs excel at modeling complex nonlinear relationships between input features and output variables. For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RUL prediction, MLP can learn intricate patterns from high-dimensional sensor data and produce accurate life estimations. Backpropagation adjusts the network’s weights to minimize error during training. Regularization and dropout are used to prevent overfitting. In this project, the MLP model was among the best-performing algorithms, achieving MSE = 12.0854 and R² = 0.9984, providing reliable predictions with high generalization for maintenance decision-making.</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Tree>
    <p:extLst>
      <p:ext uri="{BB962C8B-B14F-4D97-AF65-F5344CB8AC3E}">
        <p14:creationId xmlns:p14="http://schemas.microsoft.com/office/powerpoint/2010/main" val="25988759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929" y="263494"/>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smtClean="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563942" y="1086940"/>
            <a:ext cx="8019983"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prediction of </a:t>
            </a:r>
            <a:r>
              <a:rPr lang="en-US" sz="1400" dirty="0" err="1">
                <a:latin typeface="Times New Roman" panose="02020603050405020304" pitchFamily="18" charset="0"/>
                <a:cs typeface="Times New Roman" panose="02020603050405020304" pitchFamily="18" charset="0"/>
              </a:rPr>
              <a:t>aeroengine</a:t>
            </a:r>
            <a:r>
              <a:rPr lang="en-US" sz="1400" dirty="0">
                <a:latin typeface="Times New Roman" panose="02020603050405020304" pitchFamily="18" charset="0"/>
                <a:cs typeface="Times New Roman" panose="02020603050405020304" pitchFamily="18" charset="0"/>
              </a:rPr>
              <a:t> Remaining Useful Life (RUL) has significant potential for further enhancement and application. Future work can incorporate </a:t>
            </a:r>
            <a:r>
              <a:rPr lang="en-US" sz="1400" b="1" dirty="0">
                <a:latin typeface="Times New Roman" panose="02020603050405020304" pitchFamily="18" charset="0"/>
                <a:cs typeface="Times New Roman" panose="02020603050405020304" pitchFamily="18" charset="0"/>
              </a:rPr>
              <a:t>real-time streaming data</a:t>
            </a:r>
            <a:r>
              <a:rPr lang="en-US" sz="1400" dirty="0">
                <a:latin typeface="Times New Roman" panose="02020603050405020304" pitchFamily="18" charset="0"/>
                <a:cs typeface="Times New Roman" panose="02020603050405020304" pitchFamily="18" charset="0"/>
              </a:rPr>
              <a:t> from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-enabled sensors onboard aircraft to continuously update RUL predictions, improving proactive maintenance scheduling. Integration of </a:t>
            </a:r>
            <a:r>
              <a:rPr lang="en-US" sz="1400" b="1" dirty="0">
                <a:latin typeface="Times New Roman" panose="02020603050405020304" pitchFamily="18" charset="0"/>
                <a:cs typeface="Times New Roman" panose="02020603050405020304" pitchFamily="18" charset="0"/>
              </a:rPr>
              <a:t>hybrid models</a:t>
            </a:r>
            <a:r>
              <a:rPr lang="en-US" sz="1400" dirty="0">
                <a:latin typeface="Times New Roman" panose="02020603050405020304" pitchFamily="18" charset="0"/>
                <a:cs typeface="Times New Roman" panose="02020603050405020304" pitchFamily="18" charset="0"/>
              </a:rPr>
              <a:t>, combining ensemble tree-based approaches with deep learning architectures, may further enhance prediction accuracy for complex operational conditions. The system can also be extended to include </a:t>
            </a:r>
            <a:r>
              <a:rPr lang="en-US" sz="1400" b="1" dirty="0">
                <a:latin typeface="Times New Roman" panose="02020603050405020304" pitchFamily="18" charset="0"/>
                <a:cs typeface="Times New Roman" panose="02020603050405020304" pitchFamily="18" charset="0"/>
              </a:rPr>
              <a:t>multi-engine fleet analysis</a:t>
            </a:r>
            <a:r>
              <a:rPr lang="en-US" sz="1400" dirty="0">
                <a:latin typeface="Times New Roman" panose="02020603050405020304" pitchFamily="18" charset="0"/>
                <a:cs typeface="Times New Roman" panose="02020603050405020304" pitchFamily="18" charset="0"/>
              </a:rPr>
              <a:t>, enabling optimized maintenance across multiple aircraft. Additionally, advanced Explainable AI (XAI) techniques beyond SHAP, such as LIME or counterfactual analysis, could provide deeper insights into engine behavior and maintenance decision-making. Incorporating </a:t>
            </a:r>
            <a:r>
              <a:rPr lang="en-US" sz="1400" b="1" dirty="0">
                <a:latin typeface="Times New Roman" panose="02020603050405020304" pitchFamily="18" charset="0"/>
                <a:cs typeface="Times New Roman" panose="02020603050405020304" pitchFamily="18" charset="0"/>
              </a:rPr>
              <a:t>cloud-based deployment</a:t>
            </a:r>
            <a:r>
              <a:rPr lang="en-US" sz="1400" dirty="0">
                <a:latin typeface="Times New Roman" panose="02020603050405020304" pitchFamily="18" charset="0"/>
                <a:cs typeface="Times New Roman" panose="02020603050405020304" pitchFamily="18" charset="0"/>
              </a:rPr>
              <a:t>, automated notifications, and predictive dashboards would make the solution scalable and operationally robust for the aviation industry.</a:t>
            </a:r>
            <a:endParaRPr lang="en-IN" sz="14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smtClean="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929" y="305087"/>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smtClean="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571053" y="1015787"/>
            <a:ext cx="8133255" cy="2962158"/>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This project successfully demonstrates the feasibility and effectiveness of using advanced machine learning models for predicting the Remaining Useful Life of </a:t>
            </a:r>
            <a:r>
              <a:rPr lang="en-US" sz="1400" dirty="0" err="1">
                <a:latin typeface="Times New Roman" panose="02020603050405020304" pitchFamily="18" charset="0"/>
                <a:cs typeface="Times New Roman" panose="02020603050405020304" pitchFamily="18" charset="0"/>
              </a:rPr>
              <a:t>aeroengines</a:t>
            </a:r>
            <a:r>
              <a:rPr lang="en-US" sz="1400" dirty="0">
                <a:latin typeface="Times New Roman" panose="02020603050405020304" pitchFamily="18" charset="0"/>
                <a:cs typeface="Times New Roman" panose="02020603050405020304" pitchFamily="18" charset="0"/>
              </a:rPr>
              <a:t>. By evaluating multiple algorithms—including Random Forest, Extra Trees </a:t>
            </a:r>
            <a:r>
              <a:rPr lang="en-US" sz="1400" dirty="0" err="1">
                <a:latin typeface="Times New Roman" panose="02020603050405020304" pitchFamily="18" charset="0"/>
                <a:cs typeface="Times New Roman" panose="02020603050405020304" pitchFamily="18" charset="0"/>
              </a:rPr>
              <a:t>Regressor</a:t>
            </a:r>
            <a:r>
              <a:rPr lang="en-US" sz="1400" dirty="0">
                <a:latin typeface="Times New Roman" panose="02020603050405020304" pitchFamily="18" charset="0"/>
                <a:cs typeface="Times New Roman" panose="02020603050405020304" pitchFamily="18" charset="0"/>
              </a:rPr>
              <a:t>,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KNN, FNN, and MLP—it was determined that </a:t>
            </a:r>
            <a:r>
              <a:rPr lang="en-US" sz="1400" b="1" dirty="0">
                <a:latin typeface="Times New Roman" panose="02020603050405020304" pitchFamily="18" charset="0"/>
                <a:cs typeface="Times New Roman" panose="02020603050405020304" pitchFamily="18" charset="0"/>
              </a:rPr>
              <a:t>Extra Trees </a:t>
            </a:r>
            <a:r>
              <a:rPr lang="en-US" sz="1400" b="1" dirty="0" err="1">
                <a:latin typeface="Times New Roman" panose="02020603050405020304" pitchFamily="18" charset="0"/>
                <a:cs typeface="Times New Roman" panose="02020603050405020304" pitchFamily="18" charset="0"/>
              </a:rPr>
              <a:t>Regressor</a:t>
            </a:r>
            <a:r>
              <a:rPr lang="en-US" sz="1400" b="1" dirty="0">
                <a:latin typeface="Times New Roman" panose="02020603050405020304" pitchFamily="18" charset="0"/>
                <a:cs typeface="Times New Roman" panose="02020603050405020304" pitchFamily="18" charset="0"/>
              </a:rPr>
              <a:t> and MLP</a:t>
            </a:r>
            <a:r>
              <a:rPr lang="en-US" sz="1400" dirty="0">
                <a:latin typeface="Times New Roman" panose="02020603050405020304" pitchFamily="18" charset="0"/>
                <a:cs typeface="Times New Roman" panose="02020603050405020304" pitchFamily="18" charset="0"/>
              </a:rPr>
              <a:t> offer the most reliable and accurate predictions. The integration of SHAP-based Explainable AI provides transparency in feature contributions, fostering trust in model decisions. The deployment of the system as a </a:t>
            </a:r>
            <a:r>
              <a:rPr lang="en-US" sz="1400" b="1" dirty="0">
                <a:latin typeface="Times New Roman" panose="02020603050405020304" pitchFamily="18" charset="0"/>
                <a:cs typeface="Times New Roman" panose="02020603050405020304" pitchFamily="18" charset="0"/>
              </a:rPr>
              <a:t>Flask-based web application</a:t>
            </a:r>
            <a:r>
              <a:rPr lang="en-US" sz="1400" dirty="0">
                <a:latin typeface="Times New Roman" panose="02020603050405020304" pitchFamily="18" charset="0"/>
                <a:cs typeface="Times New Roman" panose="02020603050405020304" pitchFamily="18" charset="0"/>
              </a:rPr>
              <a:t> enables real-time data input, model comparison, and actionable maintenance recommendations. Overall, this research contributes to </a:t>
            </a:r>
            <a:r>
              <a:rPr lang="en-US" sz="1400" b="1" dirty="0">
                <a:latin typeface="Times New Roman" panose="02020603050405020304" pitchFamily="18" charset="0"/>
                <a:cs typeface="Times New Roman" panose="02020603050405020304" pitchFamily="18" charset="0"/>
              </a:rPr>
              <a:t>enhanced aviation safety, reduced operational costs, and improved reliability</a:t>
            </a:r>
            <a:r>
              <a:rPr lang="en-US" sz="1400" dirty="0">
                <a:latin typeface="Times New Roman" panose="02020603050405020304" pitchFamily="18" charset="0"/>
                <a:cs typeface="Times New Roman" panose="02020603050405020304" pitchFamily="18" charset="0"/>
              </a:rPr>
              <a:t>, offering a scalable framework for predictive maintenance in the aerospace sector.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3" name="Rectangle 2"/>
          <p:cNvSpPr/>
          <p:nvPr/>
        </p:nvSpPr>
        <p:spPr>
          <a:xfrm>
            <a:off x="3624653" y="482354"/>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1"/>
          <p:cNvSpPr>
            <a:spLocks noChangeArrowheads="1"/>
          </p:cNvSpPr>
          <p:nvPr/>
        </p:nvSpPr>
        <p:spPr bwMode="auto">
          <a:xfrm>
            <a:off x="840826" y="2821600"/>
            <a:ext cx="76830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619759" y="1009661"/>
            <a:ext cx="8310042" cy="3931654"/>
          </a:xfrm>
          <a:prstGeom prst="rect">
            <a:avLst/>
          </a:prstGeom>
        </p:spPr>
        <p:txBody>
          <a:bodyPr wrap="square">
            <a:spAutoFit/>
          </a:bodyPr>
          <a:lstStyle/>
          <a:p>
            <a:pPr>
              <a:lnSpc>
                <a:spcPct val="150000"/>
              </a:lnSpc>
            </a:pP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Elsherif</a:t>
            </a:r>
            <a:r>
              <a:rPr lang="en-US" sz="1400" dirty="0">
                <a:latin typeface="Times New Roman" panose="02020603050405020304" pitchFamily="18" charset="0"/>
                <a:cs typeface="Times New Roman" panose="02020603050405020304" pitchFamily="18" charset="0"/>
              </a:rPr>
              <a:t>, S. M., et al. (2025). "A deep learning-based prognostic approach for predicting the remaining useful life of aero-engines."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2"/>
              </a:rPr>
              <a:t>https://www.nature.com/articles/s41598-025-09155-z</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[2] </a:t>
            </a:r>
            <a:r>
              <a:rPr lang="en-US" sz="1400" dirty="0" err="1">
                <a:latin typeface="Times New Roman" panose="02020603050405020304" pitchFamily="18" charset="0"/>
                <a:cs typeface="Times New Roman" panose="02020603050405020304" pitchFamily="18" charset="0"/>
              </a:rPr>
              <a:t>Zha</a:t>
            </a:r>
            <a:r>
              <a:rPr lang="en-US" sz="1400" dirty="0">
                <a:latin typeface="Times New Roman" panose="02020603050405020304" pitchFamily="18" charset="0"/>
                <a:cs typeface="Times New Roman" panose="02020603050405020304" pitchFamily="18" charset="0"/>
              </a:rPr>
              <a:t>, W. (2024). "An aero-engine remaining useful life prediction model based on feature extraction and improved temporal convolution network." </a:t>
            </a:r>
            <a:r>
              <a:rPr lang="en-US" sz="1400" i="1" dirty="0" err="1">
                <a:latin typeface="Times New Roman" panose="02020603050405020304" pitchFamily="18" charset="0"/>
                <a:cs typeface="Times New Roman" panose="02020603050405020304" pitchFamily="18" charset="0"/>
              </a:rPr>
              <a:t>ScienceDirect</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3"/>
              </a:rPr>
              <a:t>https://www.sciencedirect.com/science/article/pii/S2773186324000148</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[3] Zhou, Z. (2024). "An aircraft engine remaining useful life prediction method based on prediction vector angle minimization and feature fusion gate improved transformer." </a:t>
            </a:r>
            <a:r>
              <a:rPr lang="en-US" sz="1400" i="1" dirty="0" err="1">
                <a:latin typeface="Times New Roman" panose="02020603050405020304" pitchFamily="18" charset="0"/>
                <a:cs typeface="Times New Roman" panose="02020603050405020304" pitchFamily="18" charset="0"/>
              </a:rPr>
              <a:t>ScienceDirect</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4"/>
              </a:rPr>
              <a:t>https://www.sciencedirect.com/science/article/abs/pii/S0278612524001870</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[4] </a:t>
            </a:r>
            <a:r>
              <a:rPr lang="en-US" sz="1400" dirty="0" err="1">
                <a:latin typeface="Times New Roman" panose="02020603050405020304" pitchFamily="18" charset="0"/>
                <a:cs typeface="Times New Roman" panose="02020603050405020304" pitchFamily="18" charset="0"/>
              </a:rPr>
              <a:t>Alomari</a:t>
            </a:r>
            <a:r>
              <a:rPr lang="en-US" sz="1400" dirty="0">
                <a:latin typeface="Times New Roman" panose="02020603050405020304" pitchFamily="18" charset="0"/>
                <a:cs typeface="Times New Roman" panose="02020603050405020304" pitchFamily="18" charset="0"/>
              </a:rPr>
              <a:t>, Y., et al. (2023). "Advancing aircraft engine RUL predictions: An interpretable integrated approach of feature engineering and aggregated feature importance."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Available: </a:t>
            </a:r>
            <a:r>
              <a:rPr lang="en-US" sz="1400" dirty="0">
                <a:latin typeface="Times New Roman" panose="02020603050405020304" pitchFamily="18" charset="0"/>
                <a:cs typeface="Times New Roman" panose="02020603050405020304" pitchFamily="18" charset="0"/>
                <a:hlinkClick r:id="rId5"/>
              </a:rPr>
              <a:t>https://www.nature.com/articles/s41598-023-40315-1</a:t>
            </a:r>
            <a:endParaRPr lang="en-US" sz="1400" dirty="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1423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52</a:t>
            </a:fld>
            <a:endParaRPr lang="en-US" dirty="0"/>
          </a:p>
        </p:txBody>
      </p:sp>
      <p:sp>
        <p:nvSpPr>
          <p:cNvPr id="4" name="Rectangle 1"/>
          <p:cNvSpPr>
            <a:spLocks noChangeArrowheads="1"/>
          </p:cNvSpPr>
          <p:nvPr/>
        </p:nvSpPr>
        <p:spPr bwMode="auto">
          <a:xfrm rot="10800000" flipV="1">
            <a:off x="467359" y="929448"/>
            <a:ext cx="830212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400" dirty="0">
                <a:latin typeface="Times New Roman" panose="02020603050405020304" pitchFamily="18" charset="0"/>
                <a:cs typeface="Times New Roman" panose="02020603050405020304" pitchFamily="18" charset="0"/>
              </a:rPr>
              <a:t>[5] Deng, S., et al. (2024). "Prediction of remaining useful life of aero-engines based on CNN-LSTM-attention." </a:t>
            </a:r>
            <a:r>
              <a:rPr lang="en-IN" sz="1400" i="1" dirty="0">
                <a:latin typeface="Times New Roman" panose="02020603050405020304" pitchFamily="18" charset="0"/>
                <a:cs typeface="Times New Roman" panose="02020603050405020304" pitchFamily="18" charset="0"/>
              </a:rPr>
              <a:t>International Journal of Computational Intelligence Systems</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2"/>
              </a:rPr>
              <a:t>https://link.springer.com/article/10.1007/s44196-024-00639-w</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[6] Chen, J., et al. (2023). "Aero-engine remaining useful life prediction method with multimodal data fusion and ensemble transfer learning." </a:t>
            </a:r>
            <a:r>
              <a:rPr lang="en-IN" sz="1400" i="1" dirty="0" err="1">
                <a:latin typeface="Times New Roman" panose="02020603050405020304" pitchFamily="18" charset="0"/>
                <a:cs typeface="Times New Roman" panose="02020603050405020304" pitchFamily="18" charset="0"/>
              </a:rPr>
              <a:t>ScienceDirect</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3"/>
              </a:rPr>
              <a:t>https://www.sciencedirect.com/science/article/abs/pii/S0951832023000662</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[7] Liu, Q., et al. (2024). "Enhancing aircraft engine remaining useful life prediction via transfer learning." </a:t>
            </a:r>
            <a:r>
              <a:rPr lang="en-IN" sz="1400" i="1" dirty="0">
                <a:latin typeface="Times New Roman" panose="02020603050405020304" pitchFamily="18" charset="0"/>
                <a:cs typeface="Times New Roman" panose="02020603050405020304" pitchFamily="18" charset="0"/>
              </a:rPr>
              <a:t>Oxford Academic Journal of Computational Design and Engineering</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4"/>
              </a:rPr>
              <a:t>https://academic.oup.com/jcde/article/11/1/343/7610897</a:t>
            </a: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[8] Shi, J., et al. (2023). "Adaptively lightweight spatiotemporal information extraction for aero-engine RUL prediction using Involution GRU." </a:t>
            </a:r>
            <a:r>
              <a:rPr lang="en-IN" sz="1400" i="1" dirty="0">
                <a:latin typeface="Times New Roman" panose="02020603050405020304" pitchFamily="18" charset="0"/>
                <a:cs typeface="Times New Roman" panose="02020603050405020304" pitchFamily="18" charset="0"/>
              </a:rPr>
              <a:t>PMC</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5"/>
              </a:rPr>
              <a:t>https://pmc.ncbi.nlm.nih.gov/articles/PMC10346437/</a:t>
            </a:r>
            <a:endParaRPr lang="en-IN"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40751" y="421617"/>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53</a:t>
            </a:fld>
            <a:endParaRPr lang="en-US" dirty="0"/>
          </a:p>
        </p:txBody>
      </p:sp>
      <p:sp>
        <p:nvSpPr>
          <p:cNvPr id="4" name="Rectangle 1"/>
          <p:cNvSpPr>
            <a:spLocks noChangeArrowheads="1"/>
          </p:cNvSpPr>
          <p:nvPr/>
        </p:nvSpPr>
        <p:spPr bwMode="auto">
          <a:xfrm rot="10800000" flipV="1">
            <a:off x="631305" y="882607"/>
            <a:ext cx="815429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400" dirty="0">
                <a:latin typeface="Times New Roman" panose="02020603050405020304" pitchFamily="18" charset="0"/>
                <a:cs typeface="Times New Roman" panose="02020603050405020304" pitchFamily="18" charset="0"/>
              </a:rPr>
              <a:t>[9] Wang, H., et al. (2024). "</a:t>
            </a:r>
            <a:r>
              <a:rPr lang="en-IN" sz="1400" dirty="0" err="1">
                <a:latin typeface="Times New Roman" panose="02020603050405020304" pitchFamily="18" charset="0"/>
                <a:cs typeface="Times New Roman" panose="02020603050405020304" pitchFamily="18" charset="0"/>
              </a:rPr>
              <a:t>Aeroengine</a:t>
            </a:r>
            <a:r>
              <a:rPr lang="en-IN" sz="1400" dirty="0">
                <a:latin typeface="Times New Roman" panose="02020603050405020304" pitchFamily="18" charset="0"/>
                <a:cs typeface="Times New Roman" panose="02020603050405020304" pitchFamily="18" charset="0"/>
              </a:rPr>
              <a:t> remaining life prediction using feature aggregation and evaluation metrics." </a:t>
            </a:r>
            <a:r>
              <a:rPr lang="en-IN" sz="1400" i="1" dirty="0">
                <a:latin typeface="Times New Roman" panose="02020603050405020304" pitchFamily="18" charset="0"/>
                <a:cs typeface="Times New Roman" panose="02020603050405020304" pitchFamily="18" charset="0"/>
              </a:rPr>
              <a:t>Wiley Online Library</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2"/>
              </a:rPr>
              <a:t>https://</a:t>
            </a:r>
            <a:r>
              <a:rPr lang="en-IN" sz="1400" dirty="0" smtClean="0">
                <a:latin typeface="Times New Roman" panose="02020603050405020304" pitchFamily="18" charset="0"/>
                <a:cs typeface="Times New Roman" panose="02020603050405020304" pitchFamily="18" charset="0"/>
                <a:hlinkClick r:id="rId2"/>
              </a:rPr>
              <a:t>onlinelibrary.wiley.com/doi/10.1155/2024/6465566</a:t>
            </a:r>
            <a:endParaRPr lang="en-IN" sz="1400" dirty="0" smtClean="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[10] Wu, F., et al. (2024). "Remaining useful life prediction based on deep learning: A survey." </a:t>
            </a:r>
            <a:r>
              <a:rPr lang="en-IN" sz="1400" i="1" dirty="0">
                <a:latin typeface="Times New Roman" panose="02020603050405020304" pitchFamily="18" charset="0"/>
                <a:cs typeface="Times New Roman" panose="02020603050405020304" pitchFamily="18" charset="0"/>
              </a:rPr>
              <a:t>PMC</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3"/>
              </a:rPr>
              <a:t>https://pmc.ncbi.nlm.nih.gov/articles/PMC11174398</a:t>
            </a:r>
            <a:r>
              <a:rPr lang="en-IN" sz="1400" dirty="0" smtClean="0">
                <a:latin typeface="Times New Roman" panose="02020603050405020304" pitchFamily="18" charset="0"/>
                <a:cs typeface="Times New Roman" panose="02020603050405020304" pitchFamily="18" charset="0"/>
                <a:hlinkClick r:id="rId3"/>
              </a:rPr>
              <a:t>/</a:t>
            </a:r>
            <a:endParaRPr lang="en-IN" sz="1400" dirty="0" smtClean="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[11] </a:t>
            </a:r>
            <a:r>
              <a:rPr lang="en-IN" sz="1400" dirty="0" err="1">
                <a:latin typeface="Times New Roman" panose="02020603050405020304" pitchFamily="18" charset="0"/>
                <a:cs typeface="Times New Roman" panose="02020603050405020304" pitchFamily="18" charset="0"/>
              </a:rPr>
              <a:t>Biggio</a:t>
            </a:r>
            <a:r>
              <a:rPr lang="en-IN" sz="1400" dirty="0">
                <a:latin typeface="Times New Roman" panose="02020603050405020304" pitchFamily="18" charset="0"/>
                <a:cs typeface="Times New Roman" panose="02020603050405020304" pitchFamily="18" charset="0"/>
              </a:rPr>
              <a:t>, L., et al. (2021). "Uncertainty-aware remaining useful life predictor." </a:t>
            </a:r>
            <a:r>
              <a:rPr lang="en-IN" sz="1400" i="1"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4"/>
              </a:rPr>
              <a:t>https://</a:t>
            </a:r>
            <a:r>
              <a:rPr lang="en-IN" sz="1400" dirty="0" smtClean="0">
                <a:latin typeface="Times New Roman" panose="02020603050405020304" pitchFamily="18" charset="0"/>
                <a:cs typeface="Times New Roman" panose="02020603050405020304" pitchFamily="18" charset="0"/>
                <a:hlinkClick r:id="rId4"/>
              </a:rPr>
              <a:t>arxiv.org/abs/2104.03613</a:t>
            </a:r>
            <a:endParaRPr lang="en-IN" sz="1400" dirty="0" smtClean="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[12] Khan, T., et al. (2022). "An explainable regression framework for predicting remaining useful life of machines." </a:t>
            </a:r>
            <a:r>
              <a:rPr lang="en-IN" sz="1400" i="1"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Available: </a:t>
            </a:r>
            <a:r>
              <a:rPr lang="en-IN" sz="1400" dirty="0">
                <a:latin typeface="Times New Roman" panose="02020603050405020304" pitchFamily="18" charset="0"/>
                <a:cs typeface="Times New Roman" panose="02020603050405020304" pitchFamily="18" charset="0"/>
                <a:hlinkClick r:id="rId5"/>
              </a:rPr>
              <a:t>https://arxiv.org/abs/2204.13574</a:t>
            </a:r>
            <a:endParaRPr lang="en-IN"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19730" y="483508"/>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721072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1231</TotalTime>
  <Words>6688</Words>
  <Application>Microsoft Office PowerPoint</Application>
  <PresentationFormat>On-screen Show (16:9)</PresentationFormat>
  <Paragraphs>368</Paragraphs>
  <Slides>54</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Poppins</vt:lpstr>
      <vt:lpstr>Wingdings</vt:lpstr>
      <vt:lpstr>Calibri</vt:lpstr>
      <vt:lpstr>Poppins Black</vt:lpstr>
      <vt:lpstr>Bebas Neue</vt:lpstr>
      <vt:lpstr>Century Gothic</vt:lpstr>
      <vt:lpstr>Arial</vt:lpstr>
      <vt:lpstr>Times New Roman</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Proposed System</vt:lpstr>
      <vt:lpstr>ADVANTAGES</vt:lpstr>
      <vt:lpstr>PROJECT FLOW </vt:lpstr>
      <vt:lpstr>Resource Requirements</vt:lpstr>
      <vt:lpstr>Architecture</vt:lpstr>
      <vt:lpstr>Research Gap analysis</vt:lpstr>
      <vt:lpstr>PowerPoint Presentation</vt:lpstr>
      <vt:lpstr>PowerPoint Presentation</vt:lpstr>
      <vt:lpstr>PowerPoint Presentation</vt:lpstr>
      <vt:lpstr>PowerPoint Presentation</vt:lpstr>
      <vt:lpstr>PowerPoint Presentation</vt:lpstr>
      <vt:lpstr>PowerPoint Presentation</vt:lpstr>
      <vt:lpstr>Implementation</vt:lpstr>
      <vt:lpstr>1.Data set Description:   </vt:lpstr>
      <vt:lpstr>1.Data set Description:   </vt:lpstr>
      <vt:lpstr>1.Data set Description:   </vt:lpstr>
      <vt:lpstr>Exploratory Data Analysis </vt:lpstr>
      <vt:lpstr>Exploratory Data Analysis </vt:lpstr>
      <vt:lpstr>Exploratory Data Analysis </vt:lpstr>
      <vt:lpstr>Exploratory Data Analysis </vt:lpstr>
      <vt:lpstr>Exploratory Data Analysis </vt:lpstr>
      <vt:lpstr>Pre-processing steps</vt:lpstr>
      <vt:lpstr>Pre-processing steps</vt:lpstr>
      <vt:lpstr>Pre-processing steps</vt:lpstr>
      <vt:lpstr>Pre-processing steps</vt:lpstr>
      <vt:lpstr>Pre-processing steps</vt:lpstr>
      <vt:lpstr>Pre-processing steps</vt:lpstr>
      <vt:lpstr>Pre-processing steps</vt:lpstr>
      <vt:lpstr>Pre-processing steps</vt:lpstr>
      <vt:lpstr>PowerPoint Presentation</vt:lpstr>
      <vt:lpstr>PowerPoint Presentation</vt:lpstr>
      <vt:lpstr>Random Forest</vt:lpstr>
      <vt:lpstr>Random Forest</vt:lpstr>
      <vt:lpstr>Random Forest</vt:lpstr>
      <vt:lpstr>Random Forest</vt:lpstr>
      <vt:lpstr>Random Forest</vt:lpstr>
      <vt:lpstr>Random Forest</vt:lpstr>
      <vt:lpstr>Future Scope</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Shaik Rashed Shariff</cp:lastModifiedBy>
  <cp:revision>240</cp:revision>
  <dcterms:created xsi:type="dcterms:W3CDTF">2024-08-17T15:37:17Z</dcterms:created>
  <dcterms:modified xsi:type="dcterms:W3CDTF">2025-09-17T06:36:40Z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